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23360" cy="6858000"/>
          </a:xfrm>
          <a:prstGeom prst="rect">
            <a:avLst/>
          </a:prstGeom>
          <a:solidFill>
            <a:srgbClr val="13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685800" y="960120"/>
            <a:ext cx="2606040" cy="0"/>
          </a:xfrm>
          <a:prstGeom prst="line">
            <a:avLst/>
          </a:prstGeom>
          <a:ln w="2794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85800" y="1207008"/>
            <a:ext cx="2743200" cy="1234440"/>
          </a:xfrm>
          <a:prstGeom prst="rect">
            <a:avLst/>
          </a:prstGeom>
          <a:noFill/>
        </p:spPr>
        <p:txBody>
          <a:bodyPr wrap="square" anchor="t">
            <a:spAutoFit/>
          </a:bodyPr>
          <a:lstStyle/>
          <a:p>
            <a:pPr algn="l"/>
            <a:r>
              <a:rPr sz="2900" b="1">
                <a:solidFill>
                  <a:srgbClr val="FFFFFF"/>
                </a:solidFill>
                <a:latin typeface="Aptos Display"/>
              </a:rPr>
              <a:t>TRƯỜNG THPT
ĐỨC TRỌNG</a:t>
            </a:r>
          </a:p>
        </p:txBody>
      </p:sp>
      <p:sp>
        <p:nvSpPr>
          <p:cNvPr id="6" name="TextBox 5"/>
          <p:cNvSpPr txBox="1"/>
          <p:nvPr/>
        </p:nvSpPr>
        <p:spPr>
          <a:xfrm>
            <a:off x="704088" y="2578608"/>
            <a:ext cx="1920240" cy="411480"/>
          </a:xfrm>
          <a:prstGeom prst="rect">
            <a:avLst/>
          </a:prstGeom>
          <a:noFill/>
        </p:spPr>
        <p:txBody>
          <a:bodyPr wrap="square" anchor="t">
            <a:spAutoFit/>
          </a:bodyPr>
          <a:lstStyle/>
          <a:p>
            <a:pPr algn="l"/>
            <a:r>
              <a:rPr sz="1700" b="1">
                <a:solidFill>
                  <a:srgbClr val="DDE7E2"/>
                </a:solidFill>
                <a:latin typeface="Aptos"/>
              </a:rPr>
              <a:t>Lâm Đồng</a:t>
            </a:r>
          </a:p>
        </p:txBody>
      </p:sp>
      <p:sp>
        <p:nvSpPr>
          <p:cNvPr id="7" name="Rounded Rectangle 6"/>
          <p:cNvSpPr/>
          <p:nvPr/>
        </p:nvSpPr>
        <p:spPr>
          <a:xfrm>
            <a:off x="685800" y="3246120"/>
            <a:ext cx="2606040" cy="384048"/>
          </a:xfrm>
          <a:prstGeom prst="roundRect">
            <a:avLst/>
          </a:prstGeom>
          <a:solidFill>
            <a:srgbClr val="1F4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3264408"/>
            <a:ext cx="2606040" cy="365759"/>
          </a:xfrm>
          <a:prstGeom prst="rect">
            <a:avLst/>
          </a:prstGeom>
          <a:noFill/>
        </p:spPr>
        <p:txBody>
          <a:bodyPr wrap="square" anchor="ctr">
            <a:spAutoFit/>
          </a:bodyPr>
          <a:lstStyle/>
          <a:p>
            <a:pPr algn="ctr"/>
            <a:r>
              <a:rPr sz="1000" b="1">
                <a:solidFill>
                  <a:srgbClr val="FFFFFF"/>
                </a:solidFill>
                <a:latin typeface="Aptos"/>
              </a:rPr>
              <a:t>DÀNH CHO HỌC SINH LỚP 9</a:t>
            </a:r>
          </a:p>
        </p:txBody>
      </p:sp>
      <p:sp>
        <p:nvSpPr>
          <p:cNvPr id="9" name="TextBox 8"/>
          <p:cNvSpPr txBox="1"/>
          <p:nvPr/>
        </p:nvSpPr>
        <p:spPr>
          <a:xfrm>
            <a:off x="685800" y="3886200"/>
            <a:ext cx="2880360" cy="1417320"/>
          </a:xfrm>
          <a:prstGeom prst="rect">
            <a:avLst/>
          </a:prstGeom>
          <a:noFill/>
        </p:spPr>
        <p:txBody>
          <a:bodyPr wrap="square" anchor="t">
            <a:spAutoFit/>
          </a:bodyPr>
          <a:lstStyle/>
          <a:p>
            <a:pPr algn="l"/>
            <a:r>
              <a:rPr sz="2100" b="1">
                <a:solidFill>
                  <a:srgbClr val="FFFFFF"/>
                </a:solidFill>
                <a:latin typeface="Aptos"/>
              </a:rPr>
              <a:t>Tìm hiểu về trường và
tuyển sinh lớp 10
năm học 2026–2027</a:t>
            </a:r>
          </a:p>
        </p:txBody>
      </p:sp>
      <p:sp>
        <p:nvSpPr>
          <p:cNvPr id="10" name="TextBox 9"/>
          <p:cNvSpPr txBox="1"/>
          <p:nvPr/>
        </p:nvSpPr>
        <p:spPr>
          <a:xfrm>
            <a:off x="685800" y="6108192"/>
            <a:ext cx="2971800" cy="274320"/>
          </a:xfrm>
          <a:prstGeom prst="rect">
            <a:avLst/>
          </a:prstGeom>
          <a:noFill/>
        </p:spPr>
        <p:txBody>
          <a:bodyPr wrap="square" anchor="t">
            <a:spAutoFit/>
          </a:bodyPr>
          <a:lstStyle/>
          <a:p>
            <a:pPr algn="l"/>
            <a:r>
              <a:rPr sz="1000" b="0">
                <a:solidFill>
                  <a:srgbClr val="BED2C9"/>
                </a:solidFill>
                <a:latin typeface="Aptos"/>
              </a:rPr>
              <a:t>Bài thực hành tìm kiếm thông tin</a:t>
            </a:r>
          </a:p>
        </p:txBody>
      </p:sp>
      <p:sp>
        <p:nvSpPr>
          <p:cNvPr id="11" name="TextBox 10"/>
          <p:cNvSpPr txBox="1"/>
          <p:nvPr/>
        </p:nvSpPr>
        <p:spPr>
          <a:xfrm>
            <a:off x="4709160" y="868680"/>
            <a:ext cx="6309360" cy="685800"/>
          </a:xfrm>
          <a:prstGeom prst="rect">
            <a:avLst/>
          </a:prstGeom>
          <a:noFill/>
        </p:spPr>
        <p:txBody>
          <a:bodyPr wrap="square" anchor="t">
            <a:spAutoFit/>
          </a:bodyPr>
          <a:lstStyle/>
          <a:p>
            <a:pPr algn="l"/>
            <a:r>
              <a:rPr sz="3400" b="1">
                <a:solidFill>
                  <a:srgbClr val="13304A"/>
                </a:solidFill>
                <a:latin typeface="Aptos Display"/>
              </a:rPr>
              <a:t>THPT ĐỨC TRỌNG</a:t>
            </a:r>
          </a:p>
        </p:txBody>
      </p:sp>
      <p:sp>
        <p:nvSpPr>
          <p:cNvPr id="12" name="TextBox 11"/>
          <p:cNvSpPr txBox="1"/>
          <p:nvPr/>
        </p:nvSpPr>
        <p:spPr>
          <a:xfrm>
            <a:off x="4736592" y="1554480"/>
            <a:ext cx="6126480" cy="411480"/>
          </a:xfrm>
          <a:prstGeom prst="rect">
            <a:avLst/>
          </a:prstGeom>
          <a:noFill/>
        </p:spPr>
        <p:txBody>
          <a:bodyPr wrap="square" anchor="t">
            <a:spAutoFit/>
          </a:bodyPr>
          <a:lstStyle/>
          <a:p>
            <a:pPr algn="l"/>
            <a:r>
              <a:rPr sz="1600" b="0">
                <a:solidFill>
                  <a:srgbClr val="5C6972"/>
                </a:solidFill>
                <a:latin typeface="Aptos"/>
              </a:rPr>
              <a:t>Một ngôi trường có lịch sử hơn 60 năm tại địa phương</a:t>
            </a:r>
          </a:p>
        </p:txBody>
      </p:sp>
      <p:sp>
        <p:nvSpPr>
          <p:cNvPr id="13" name="Rounded Rectangle 12"/>
          <p:cNvSpPr/>
          <p:nvPr/>
        </p:nvSpPr>
        <p:spPr>
          <a:xfrm>
            <a:off x="4736592" y="2404872"/>
            <a:ext cx="1975104" cy="1325880"/>
          </a:xfrm>
          <a:prstGeom prst="roundRect">
            <a:avLst/>
          </a:prstGeom>
          <a:solidFill>
            <a:srgbClr val="F7F9F8"/>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55464" y="2642616"/>
            <a:ext cx="1737360" cy="438912"/>
          </a:xfrm>
          <a:prstGeom prst="rect">
            <a:avLst/>
          </a:prstGeom>
          <a:noFill/>
        </p:spPr>
        <p:txBody>
          <a:bodyPr wrap="square" anchor="t">
            <a:spAutoFit/>
          </a:bodyPr>
          <a:lstStyle/>
          <a:p>
            <a:pPr algn="ctr"/>
            <a:r>
              <a:rPr sz="2300" b="1">
                <a:solidFill>
                  <a:srgbClr val="295E4A"/>
                </a:solidFill>
                <a:latin typeface="Aptos"/>
              </a:rPr>
              <a:t>1962–1963</a:t>
            </a:r>
          </a:p>
        </p:txBody>
      </p:sp>
      <p:sp>
        <p:nvSpPr>
          <p:cNvPr id="15" name="TextBox 14"/>
          <p:cNvSpPr txBox="1"/>
          <p:nvPr/>
        </p:nvSpPr>
        <p:spPr>
          <a:xfrm>
            <a:off x="4855464" y="3090672"/>
            <a:ext cx="1737360" cy="438912"/>
          </a:xfrm>
          <a:prstGeom prst="rect">
            <a:avLst/>
          </a:prstGeom>
          <a:noFill/>
        </p:spPr>
        <p:txBody>
          <a:bodyPr wrap="square" anchor="t">
            <a:spAutoFit/>
          </a:bodyPr>
          <a:lstStyle/>
          <a:p>
            <a:pPr algn="ctr"/>
            <a:r>
              <a:rPr sz="1050" b="0">
                <a:solidFill>
                  <a:srgbClr val="5C6972"/>
                </a:solidFill>
                <a:latin typeface="Aptos"/>
              </a:rPr>
              <a:t>Tiền thân trường ra đời</a:t>
            </a:r>
          </a:p>
        </p:txBody>
      </p:sp>
      <p:sp>
        <p:nvSpPr>
          <p:cNvPr id="16" name="Rounded Rectangle 15"/>
          <p:cNvSpPr/>
          <p:nvPr/>
        </p:nvSpPr>
        <p:spPr>
          <a:xfrm>
            <a:off x="6949440" y="2404872"/>
            <a:ext cx="1975104" cy="1325880"/>
          </a:xfrm>
          <a:prstGeom prst="roundRect">
            <a:avLst/>
          </a:prstGeom>
          <a:solidFill>
            <a:srgbClr val="F7F9F8"/>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68312" y="2642616"/>
            <a:ext cx="1737360" cy="438912"/>
          </a:xfrm>
          <a:prstGeom prst="rect">
            <a:avLst/>
          </a:prstGeom>
          <a:noFill/>
        </p:spPr>
        <p:txBody>
          <a:bodyPr wrap="square" anchor="t">
            <a:spAutoFit/>
          </a:bodyPr>
          <a:lstStyle/>
          <a:p>
            <a:pPr algn="ctr"/>
            <a:r>
              <a:rPr sz="2300" b="1">
                <a:solidFill>
                  <a:srgbClr val="295E4A"/>
                </a:solidFill>
                <a:latin typeface="Aptos"/>
              </a:rPr>
              <a:t>60 năm</a:t>
            </a:r>
          </a:p>
        </p:txBody>
      </p:sp>
      <p:sp>
        <p:nvSpPr>
          <p:cNvPr id="18" name="TextBox 17"/>
          <p:cNvSpPr txBox="1"/>
          <p:nvPr/>
        </p:nvSpPr>
        <p:spPr>
          <a:xfrm>
            <a:off x="7068312" y="3090672"/>
            <a:ext cx="1737360" cy="438912"/>
          </a:xfrm>
          <a:prstGeom prst="rect">
            <a:avLst/>
          </a:prstGeom>
          <a:noFill/>
        </p:spPr>
        <p:txBody>
          <a:bodyPr wrap="square" anchor="t">
            <a:spAutoFit/>
          </a:bodyPr>
          <a:lstStyle/>
          <a:p>
            <a:pPr algn="ctr"/>
            <a:r>
              <a:rPr sz="1050" b="0">
                <a:solidFill>
                  <a:srgbClr val="5C6972"/>
                </a:solidFill>
                <a:latin typeface="Aptos"/>
              </a:rPr>
              <a:t>Kỷ niệm thành lập 1963–2023</a:t>
            </a:r>
          </a:p>
        </p:txBody>
      </p:sp>
      <p:sp>
        <p:nvSpPr>
          <p:cNvPr id="19" name="Rounded Rectangle 18"/>
          <p:cNvSpPr/>
          <p:nvPr/>
        </p:nvSpPr>
        <p:spPr>
          <a:xfrm>
            <a:off x="9162288" y="2404872"/>
            <a:ext cx="1975104" cy="1325880"/>
          </a:xfrm>
          <a:prstGeom prst="roundRect">
            <a:avLst/>
          </a:prstGeom>
          <a:solidFill>
            <a:srgbClr val="F7F9F8"/>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2642616"/>
            <a:ext cx="1737360" cy="438912"/>
          </a:xfrm>
          <a:prstGeom prst="rect">
            <a:avLst/>
          </a:prstGeom>
          <a:noFill/>
        </p:spPr>
        <p:txBody>
          <a:bodyPr wrap="square" anchor="t">
            <a:spAutoFit/>
          </a:bodyPr>
          <a:lstStyle/>
          <a:p>
            <a:pPr algn="ctr"/>
            <a:r>
              <a:rPr sz="2300" b="1">
                <a:solidFill>
                  <a:srgbClr val="295E4A"/>
                </a:solidFill>
                <a:latin typeface="Aptos"/>
              </a:rPr>
              <a:t>580 + 26</a:t>
            </a:r>
          </a:p>
        </p:txBody>
      </p:sp>
      <p:sp>
        <p:nvSpPr>
          <p:cNvPr id="21" name="TextBox 20"/>
          <p:cNvSpPr txBox="1"/>
          <p:nvPr/>
        </p:nvSpPr>
        <p:spPr>
          <a:xfrm>
            <a:off x="9281160" y="3090672"/>
            <a:ext cx="1737360" cy="438912"/>
          </a:xfrm>
          <a:prstGeom prst="rect">
            <a:avLst/>
          </a:prstGeom>
          <a:noFill/>
        </p:spPr>
        <p:txBody>
          <a:bodyPr wrap="square" anchor="t">
            <a:spAutoFit/>
          </a:bodyPr>
          <a:lstStyle/>
          <a:p>
            <a:pPr algn="ctr"/>
            <a:r>
              <a:rPr sz="1050" b="0">
                <a:solidFill>
                  <a:srgbClr val="5C6972"/>
                </a:solidFill>
                <a:latin typeface="Aptos"/>
              </a:rPr>
              <a:t>580 trúng tuyển; 26 tuyển bổ sung năm 2026</a:t>
            </a:r>
          </a:p>
        </p:txBody>
      </p:sp>
      <p:sp>
        <p:nvSpPr>
          <p:cNvPr id="22" name="Rounded Rectangle 21"/>
          <p:cNvSpPr/>
          <p:nvPr/>
        </p:nvSpPr>
        <p:spPr>
          <a:xfrm>
            <a:off x="4736592" y="4160520"/>
            <a:ext cx="6309360" cy="1426464"/>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956048" y="4370832"/>
            <a:ext cx="1481328" cy="329184"/>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56048" y="4389120"/>
            <a:ext cx="1481328" cy="310896"/>
          </a:xfrm>
          <a:prstGeom prst="rect">
            <a:avLst/>
          </a:prstGeom>
          <a:noFill/>
        </p:spPr>
        <p:txBody>
          <a:bodyPr wrap="square" anchor="ctr">
            <a:spAutoFit/>
          </a:bodyPr>
          <a:lstStyle/>
          <a:p>
            <a:pPr algn="ctr"/>
            <a:r>
              <a:rPr sz="900" b="1">
                <a:solidFill>
                  <a:srgbClr val="295E4A"/>
                </a:solidFill>
                <a:latin typeface="Aptos"/>
              </a:rPr>
              <a:t>THÔNG TIN LIÊN HỆ</a:t>
            </a:r>
          </a:p>
        </p:txBody>
      </p:sp>
      <p:sp>
        <p:nvSpPr>
          <p:cNvPr id="25" name="TextBox 24"/>
          <p:cNvSpPr txBox="1"/>
          <p:nvPr/>
        </p:nvSpPr>
        <p:spPr>
          <a:xfrm>
            <a:off x="4956048" y="4809744"/>
            <a:ext cx="5669280" cy="320040"/>
          </a:xfrm>
          <a:prstGeom prst="rect">
            <a:avLst/>
          </a:prstGeom>
          <a:noFill/>
        </p:spPr>
        <p:txBody>
          <a:bodyPr wrap="square" anchor="t">
            <a:spAutoFit/>
          </a:bodyPr>
          <a:lstStyle/>
          <a:p>
            <a:pPr algn="l"/>
            <a:r>
              <a:rPr sz="1500" b="1">
                <a:solidFill>
                  <a:srgbClr val="1C242A"/>
                </a:solidFill>
                <a:latin typeface="Aptos"/>
              </a:rPr>
              <a:t>360 Quốc lộ 20, xã Đức Trọng, tỉnh Lâm Đồng</a:t>
            </a:r>
          </a:p>
        </p:txBody>
      </p:sp>
      <p:sp>
        <p:nvSpPr>
          <p:cNvPr id="26" name="TextBox 25"/>
          <p:cNvSpPr txBox="1"/>
          <p:nvPr/>
        </p:nvSpPr>
        <p:spPr>
          <a:xfrm>
            <a:off x="4956048" y="5212080"/>
            <a:ext cx="5669280" cy="256032"/>
          </a:xfrm>
          <a:prstGeom prst="rect">
            <a:avLst/>
          </a:prstGeom>
          <a:noFill/>
        </p:spPr>
        <p:txBody>
          <a:bodyPr wrap="square" anchor="t">
            <a:spAutoFit/>
          </a:bodyPr>
          <a:lstStyle/>
          <a:p>
            <a:pPr algn="l"/>
            <a:r>
              <a:rPr sz="1080" b="0">
                <a:solidFill>
                  <a:srgbClr val="5C6972"/>
                </a:solidFill>
                <a:latin typeface="Aptos"/>
              </a:rPr>
              <a:t>Điện thoại: 02633.843.248  •  c3ductrong.lamdong@moet.edu.vn</a:t>
            </a:r>
          </a:p>
        </p:txBody>
      </p:sp>
      <p:sp>
        <p:nvSpPr>
          <p:cNvPr id="27" name="TextBox 26"/>
          <p:cNvSpPr txBox="1"/>
          <p:nvPr/>
        </p:nvSpPr>
        <p:spPr>
          <a:xfrm>
            <a:off x="4736592" y="6053328"/>
            <a:ext cx="6309360" cy="274320"/>
          </a:xfrm>
          <a:prstGeom prst="rect">
            <a:avLst/>
          </a:prstGeom>
          <a:noFill/>
        </p:spPr>
        <p:txBody>
          <a:bodyPr wrap="square" anchor="t">
            <a:spAutoFit/>
          </a:bodyPr>
          <a:lstStyle/>
          <a:p>
            <a:pPr algn="l"/>
            <a:r>
              <a:rPr sz="850" b="0">
                <a:solidFill>
                  <a:srgbClr val="5C6972"/>
                </a:solidFill>
                <a:latin typeface="Aptos"/>
              </a:rPr>
              <a:t>Nguồn chính: Cổng thông tin điện tử Trường THPT Đức Trọng; Quyết định 1074/QĐ-UBND.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875520" cy="502920"/>
          </a:xfrm>
          <a:prstGeom prst="rect">
            <a:avLst/>
          </a:prstGeom>
          <a:noFill/>
        </p:spPr>
        <p:txBody>
          <a:bodyPr wrap="square" anchor="t">
            <a:spAutoFit/>
          </a:bodyPr>
          <a:lstStyle/>
          <a:p>
            <a:pPr algn="l"/>
            <a:r>
              <a:rPr sz="2700" b="1">
                <a:solidFill>
                  <a:srgbClr val="13304A"/>
                </a:solidFill>
                <a:latin typeface="Aptos Display"/>
              </a:rPr>
              <a:t>1. Vị trí và thông tin cơ bản</a:t>
            </a:r>
          </a:p>
        </p:txBody>
      </p:sp>
      <p:cxnSp>
        <p:nvCxnSpPr>
          <p:cNvPr id="4" name="Connector 3"/>
          <p:cNvCxnSpPr/>
          <p:nvPr/>
        </p:nvCxnSpPr>
        <p:spPr>
          <a:xfrm>
            <a:off x="594360" y="987552"/>
            <a:ext cx="11000232" cy="0"/>
          </a:xfrm>
          <a:prstGeom prst="line">
            <a:avLst/>
          </a:prstGeom>
          <a:ln w="2159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2648" y="1078992"/>
            <a:ext cx="10698480" cy="411480"/>
          </a:xfrm>
          <a:prstGeom prst="rect">
            <a:avLst/>
          </a:prstGeom>
          <a:noFill/>
        </p:spPr>
        <p:txBody>
          <a:bodyPr wrap="square" anchor="t">
            <a:spAutoFit/>
          </a:bodyPr>
          <a:lstStyle/>
          <a:p>
            <a:pPr algn="l"/>
            <a:r>
              <a:rPr sz="1200" b="0">
                <a:solidFill>
                  <a:srgbClr val="5C6972"/>
                </a:solidFill>
                <a:latin typeface="Aptos"/>
              </a:rPr>
              <a:t>Thông tin được đối chiếu với trang công khai của nhà trường năm 2026.</a:t>
            </a:r>
          </a:p>
        </p:txBody>
      </p:sp>
      <p:sp>
        <p:nvSpPr>
          <p:cNvPr id="6" name="TextBox 5"/>
          <p:cNvSpPr txBox="1"/>
          <p:nvPr/>
        </p:nvSpPr>
        <p:spPr>
          <a:xfrm>
            <a:off x="10972800" y="411480"/>
            <a:ext cx="548640" cy="320040"/>
          </a:xfrm>
          <a:prstGeom prst="rect">
            <a:avLst/>
          </a:prstGeom>
          <a:noFill/>
        </p:spPr>
        <p:txBody>
          <a:bodyPr wrap="square" anchor="t">
            <a:spAutoFit/>
          </a:bodyPr>
          <a:lstStyle/>
          <a:p>
            <a:pPr algn="r"/>
            <a:r>
              <a:rPr sz="1100" b="1">
                <a:solidFill>
                  <a:srgbClr val="5C6972"/>
                </a:solidFill>
                <a:latin typeface="Aptos"/>
              </a:rPr>
              <a:t>02</a:t>
            </a:r>
          </a:p>
        </p:txBody>
      </p:sp>
      <p:sp>
        <p:nvSpPr>
          <p:cNvPr id="7" name="Rounded Rectangle 6"/>
          <p:cNvSpPr/>
          <p:nvPr/>
        </p:nvSpPr>
        <p:spPr>
          <a:xfrm>
            <a:off x="594360" y="1481328"/>
            <a:ext cx="6537960" cy="452628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783080"/>
            <a:ext cx="2011680" cy="365760"/>
          </a:xfrm>
          <a:prstGeom prst="roundRect">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01368"/>
            <a:ext cx="2011680" cy="347472"/>
          </a:xfrm>
          <a:prstGeom prst="rect">
            <a:avLst/>
          </a:prstGeom>
          <a:noFill/>
        </p:spPr>
        <p:txBody>
          <a:bodyPr wrap="square" anchor="ctr">
            <a:spAutoFit/>
          </a:bodyPr>
          <a:lstStyle/>
          <a:p>
            <a:pPr algn="ctr"/>
            <a:r>
              <a:rPr sz="1000" b="1">
                <a:solidFill>
                  <a:srgbClr val="13304A"/>
                </a:solidFill>
                <a:latin typeface="Aptos"/>
              </a:rPr>
              <a:t>THÔNG TIN NHÀ TRƯỜNG</a:t>
            </a:r>
          </a:p>
        </p:txBody>
      </p:sp>
      <p:sp>
        <p:nvSpPr>
          <p:cNvPr id="10" name="TextBox 9"/>
          <p:cNvSpPr txBox="1"/>
          <p:nvPr/>
        </p:nvSpPr>
        <p:spPr>
          <a:xfrm>
            <a:off x="896112" y="2331720"/>
            <a:ext cx="1417320" cy="320040"/>
          </a:xfrm>
          <a:prstGeom prst="rect">
            <a:avLst/>
          </a:prstGeom>
          <a:noFill/>
        </p:spPr>
        <p:txBody>
          <a:bodyPr wrap="square" anchor="t">
            <a:spAutoFit/>
          </a:bodyPr>
          <a:lstStyle/>
          <a:p>
            <a:pPr algn="l"/>
            <a:r>
              <a:rPr sz="1200" b="1">
                <a:solidFill>
                  <a:srgbClr val="5C6972"/>
                </a:solidFill>
                <a:latin typeface="Aptos"/>
              </a:rPr>
              <a:t>Tên cơ sở giáo dục</a:t>
            </a:r>
          </a:p>
        </p:txBody>
      </p:sp>
      <p:sp>
        <p:nvSpPr>
          <p:cNvPr id="11" name="TextBox 10"/>
          <p:cNvSpPr txBox="1"/>
          <p:nvPr/>
        </p:nvSpPr>
        <p:spPr>
          <a:xfrm>
            <a:off x="2331720" y="2331720"/>
            <a:ext cx="4434840" cy="438912"/>
          </a:xfrm>
          <a:prstGeom prst="rect">
            <a:avLst/>
          </a:prstGeom>
          <a:noFill/>
        </p:spPr>
        <p:txBody>
          <a:bodyPr wrap="square" anchor="t">
            <a:spAutoFit/>
          </a:bodyPr>
          <a:lstStyle/>
          <a:p>
            <a:pPr algn="l"/>
            <a:r>
              <a:rPr sz="1500" b="1">
                <a:solidFill>
                  <a:srgbClr val="1C242A"/>
                </a:solidFill>
                <a:latin typeface="Aptos"/>
              </a:rPr>
              <a:t>Trường trung học phổ thông Đức Trọng</a:t>
            </a:r>
          </a:p>
        </p:txBody>
      </p:sp>
      <p:cxnSp>
        <p:nvCxnSpPr>
          <p:cNvPr id="12" name="Connector 11"/>
          <p:cNvCxnSpPr/>
          <p:nvPr/>
        </p:nvCxnSpPr>
        <p:spPr>
          <a:xfrm>
            <a:off x="896112" y="2843784"/>
            <a:ext cx="5916168"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96112" y="3081527"/>
            <a:ext cx="1417320" cy="320040"/>
          </a:xfrm>
          <a:prstGeom prst="rect">
            <a:avLst/>
          </a:prstGeom>
          <a:noFill/>
        </p:spPr>
        <p:txBody>
          <a:bodyPr wrap="square" anchor="t">
            <a:spAutoFit/>
          </a:bodyPr>
          <a:lstStyle/>
          <a:p>
            <a:pPr algn="l"/>
            <a:r>
              <a:rPr sz="1200" b="1">
                <a:solidFill>
                  <a:srgbClr val="5C6972"/>
                </a:solidFill>
                <a:latin typeface="Aptos"/>
              </a:rPr>
              <a:t>Địa chỉ</a:t>
            </a:r>
          </a:p>
        </p:txBody>
      </p:sp>
      <p:sp>
        <p:nvSpPr>
          <p:cNvPr id="14" name="TextBox 13"/>
          <p:cNvSpPr txBox="1"/>
          <p:nvPr/>
        </p:nvSpPr>
        <p:spPr>
          <a:xfrm>
            <a:off x="2331720" y="3081527"/>
            <a:ext cx="4434840" cy="438912"/>
          </a:xfrm>
          <a:prstGeom prst="rect">
            <a:avLst/>
          </a:prstGeom>
          <a:noFill/>
        </p:spPr>
        <p:txBody>
          <a:bodyPr wrap="square" anchor="t">
            <a:spAutoFit/>
          </a:bodyPr>
          <a:lstStyle/>
          <a:p>
            <a:pPr algn="l"/>
            <a:r>
              <a:rPr sz="1500" b="0">
                <a:solidFill>
                  <a:srgbClr val="1C242A"/>
                </a:solidFill>
                <a:latin typeface="Aptos"/>
              </a:rPr>
              <a:t>360 Quốc lộ 20, xã Đức Trọng, tỉnh Lâm Đồng</a:t>
            </a:r>
          </a:p>
        </p:txBody>
      </p:sp>
      <p:cxnSp>
        <p:nvCxnSpPr>
          <p:cNvPr id="15" name="Connector 14"/>
          <p:cNvCxnSpPr/>
          <p:nvPr/>
        </p:nvCxnSpPr>
        <p:spPr>
          <a:xfrm>
            <a:off x="896112" y="3593591"/>
            <a:ext cx="5916168"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6112" y="3831335"/>
            <a:ext cx="1417320" cy="320040"/>
          </a:xfrm>
          <a:prstGeom prst="rect">
            <a:avLst/>
          </a:prstGeom>
          <a:noFill/>
        </p:spPr>
        <p:txBody>
          <a:bodyPr wrap="square" anchor="t">
            <a:spAutoFit/>
          </a:bodyPr>
          <a:lstStyle/>
          <a:p>
            <a:pPr algn="l"/>
            <a:r>
              <a:rPr sz="1200" b="1">
                <a:solidFill>
                  <a:srgbClr val="5C6972"/>
                </a:solidFill>
                <a:latin typeface="Aptos"/>
              </a:rPr>
              <a:t>Điện thoại</a:t>
            </a:r>
          </a:p>
        </p:txBody>
      </p:sp>
      <p:sp>
        <p:nvSpPr>
          <p:cNvPr id="17" name="TextBox 16"/>
          <p:cNvSpPr txBox="1"/>
          <p:nvPr/>
        </p:nvSpPr>
        <p:spPr>
          <a:xfrm>
            <a:off x="2331720" y="3831335"/>
            <a:ext cx="4434840" cy="438912"/>
          </a:xfrm>
          <a:prstGeom prst="rect">
            <a:avLst/>
          </a:prstGeom>
          <a:noFill/>
        </p:spPr>
        <p:txBody>
          <a:bodyPr wrap="square" anchor="t">
            <a:spAutoFit/>
          </a:bodyPr>
          <a:lstStyle/>
          <a:p>
            <a:pPr algn="l"/>
            <a:r>
              <a:rPr sz="1500" b="0">
                <a:solidFill>
                  <a:srgbClr val="1C242A"/>
                </a:solidFill>
                <a:latin typeface="Aptos"/>
              </a:rPr>
              <a:t>02633.843.248</a:t>
            </a:r>
          </a:p>
        </p:txBody>
      </p:sp>
      <p:cxnSp>
        <p:nvCxnSpPr>
          <p:cNvPr id="18" name="Connector 17"/>
          <p:cNvCxnSpPr/>
          <p:nvPr/>
        </p:nvCxnSpPr>
        <p:spPr>
          <a:xfrm>
            <a:off x="896112" y="4343400"/>
            <a:ext cx="5916168"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6112" y="4581144"/>
            <a:ext cx="1417320" cy="320040"/>
          </a:xfrm>
          <a:prstGeom prst="rect">
            <a:avLst/>
          </a:prstGeom>
          <a:noFill/>
        </p:spPr>
        <p:txBody>
          <a:bodyPr wrap="square" anchor="t">
            <a:spAutoFit/>
          </a:bodyPr>
          <a:lstStyle/>
          <a:p>
            <a:pPr algn="l"/>
            <a:r>
              <a:rPr sz="1200" b="1">
                <a:solidFill>
                  <a:srgbClr val="5C6972"/>
                </a:solidFill>
                <a:latin typeface="Aptos"/>
              </a:rPr>
              <a:t>Email</a:t>
            </a:r>
          </a:p>
        </p:txBody>
      </p:sp>
      <p:sp>
        <p:nvSpPr>
          <p:cNvPr id="20" name="TextBox 19"/>
          <p:cNvSpPr txBox="1"/>
          <p:nvPr/>
        </p:nvSpPr>
        <p:spPr>
          <a:xfrm>
            <a:off x="2331720" y="4581144"/>
            <a:ext cx="4434840" cy="438912"/>
          </a:xfrm>
          <a:prstGeom prst="rect">
            <a:avLst/>
          </a:prstGeom>
          <a:noFill/>
        </p:spPr>
        <p:txBody>
          <a:bodyPr wrap="square" anchor="t">
            <a:spAutoFit/>
          </a:bodyPr>
          <a:lstStyle/>
          <a:p>
            <a:pPr algn="l"/>
            <a:r>
              <a:rPr sz="1500" b="0">
                <a:solidFill>
                  <a:srgbClr val="1C242A"/>
                </a:solidFill>
                <a:latin typeface="Aptos"/>
              </a:rPr>
              <a:t>c3ductrong.lamdong@moet.edu.vn</a:t>
            </a:r>
          </a:p>
        </p:txBody>
      </p:sp>
      <p:cxnSp>
        <p:nvCxnSpPr>
          <p:cNvPr id="21" name="Connector 20"/>
          <p:cNvCxnSpPr/>
          <p:nvPr/>
        </p:nvCxnSpPr>
        <p:spPr>
          <a:xfrm>
            <a:off x="896112" y="5093208"/>
            <a:ext cx="5916168"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96112" y="5330952"/>
            <a:ext cx="1417320" cy="320040"/>
          </a:xfrm>
          <a:prstGeom prst="rect">
            <a:avLst/>
          </a:prstGeom>
          <a:noFill/>
        </p:spPr>
        <p:txBody>
          <a:bodyPr wrap="square" anchor="t">
            <a:spAutoFit/>
          </a:bodyPr>
          <a:lstStyle/>
          <a:p>
            <a:pPr algn="l"/>
            <a:r>
              <a:rPr sz="1200" b="1">
                <a:solidFill>
                  <a:srgbClr val="5C6972"/>
                </a:solidFill>
                <a:latin typeface="Aptos"/>
              </a:rPr>
              <a:t>Website</a:t>
            </a:r>
          </a:p>
        </p:txBody>
      </p:sp>
      <p:sp>
        <p:nvSpPr>
          <p:cNvPr id="23" name="TextBox 22"/>
          <p:cNvSpPr txBox="1"/>
          <p:nvPr/>
        </p:nvSpPr>
        <p:spPr>
          <a:xfrm>
            <a:off x="2331720" y="5330952"/>
            <a:ext cx="4434840" cy="438912"/>
          </a:xfrm>
          <a:prstGeom prst="rect">
            <a:avLst/>
          </a:prstGeom>
          <a:noFill/>
        </p:spPr>
        <p:txBody>
          <a:bodyPr wrap="square" anchor="t">
            <a:spAutoFit/>
          </a:bodyPr>
          <a:lstStyle/>
          <a:p>
            <a:pPr algn="l"/>
            <a:r>
              <a:rPr sz="1500" b="0">
                <a:solidFill>
                  <a:srgbClr val="1C242A"/>
                </a:solidFill>
                <a:latin typeface="Aptos"/>
              </a:rPr>
              <a:t>thptductrong.edu.vn</a:t>
            </a:r>
          </a:p>
        </p:txBody>
      </p:sp>
      <p:cxnSp>
        <p:nvCxnSpPr>
          <p:cNvPr id="24" name="Connector 23"/>
          <p:cNvCxnSpPr/>
          <p:nvPr/>
        </p:nvCxnSpPr>
        <p:spPr>
          <a:xfrm>
            <a:off x="896112" y="5843016"/>
            <a:ext cx="5916168"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88352" y="1481328"/>
            <a:ext cx="4206240" cy="2084831"/>
          </a:xfrm>
          <a:prstGeom prst="roundRect">
            <a:avLst/>
          </a:prstGeom>
          <a:solidFill>
            <a:srgbClr val="13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99248" y="1801368"/>
            <a:ext cx="3474720" cy="365760"/>
          </a:xfrm>
          <a:prstGeom prst="rect">
            <a:avLst/>
          </a:prstGeom>
          <a:noFill/>
        </p:spPr>
        <p:txBody>
          <a:bodyPr wrap="square" anchor="t">
            <a:spAutoFit/>
          </a:bodyPr>
          <a:lstStyle/>
          <a:p>
            <a:pPr algn="l"/>
            <a:r>
              <a:rPr sz="1300" b="1">
                <a:solidFill>
                  <a:srgbClr val="C5DDD2"/>
                </a:solidFill>
                <a:latin typeface="Aptos"/>
              </a:rPr>
              <a:t>Dấu mốc lịch sử</a:t>
            </a:r>
          </a:p>
        </p:txBody>
      </p:sp>
      <p:sp>
        <p:nvSpPr>
          <p:cNvPr id="27" name="TextBox 26"/>
          <p:cNvSpPr txBox="1"/>
          <p:nvPr/>
        </p:nvSpPr>
        <p:spPr>
          <a:xfrm>
            <a:off x="7699248" y="2267712"/>
            <a:ext cx="3337560" cy="566928"/>
          </a:xfrm>
          <a:prstGeom prst="rect">
            <a:avLst/>
          </a:prstGeom>
          <a:noFill/>
        </p:spPr>
        <p:txBody>
          <a:bodyPr wrap="square" anchor="t">
            <a:spAutoFit/>
          </a:bodyPr>
          <a:lstStyle/>
          <a:p>
            <a:pPr algn="l"/>
            <a:r>
              <a:rPr sz="2900" b="1">
                <a:solidFill>
                  <a:srgbClr val="FFFFFF"/>
                </a:solidFill>
                <a:latin typeface="Aptos Display"/>
              </a:rPr>
              <a:t>1962–1963</a:t>
            </a:r>
          </a:p>
        </p:txBody>
      </p:sp>
      <p:sp>
        <p:nvSpPr>
          <p:cNvPr id="28" name="TextBox 27"/>
          <p:cNvSpPr txBox="1"/>
          <p:nvPr/>
        </p:nvSpPr>
        <p:spPr>
          <a:xfrm>
            <a:off x="7699248" y="2889504"/>
            <a:ext cx="3419856" cy="512064"/>
          </a:xfrm>
          <a:prstGeom prst="rect">
            <a:avLst/>
          </a:prstGeom>
          <a:noFill/>
        </p:spPr>
        <p:txBody>
          <a:bodyPr wrap="square" anchor="t">
            <a:spAutoFit/>
          </a:bodyPr>
          <a:lstStyle/>
          <a:p>
            <a:pPr algn="l"/>
            <a:r>
              <a:rPr sz="1220" b="0">
                <a:solidFill>
                  <a:srgbClr val="FFFFFF"/>
                </a:solidFill>
                <a:latin typeface="Aptos"/>
              </a:rPr>
              <a:t>Trường Trung học Đức Trọng ra đời – tiền thân của trường hiện nay.</a:t>
            </a:r>
          </a:p>
        </p:txBody>
      </p:sp>
      <p:sp>
        <p:nvSpPr>
          <p:cNvPr id="29" name="Rounded Rectangle 28"/>
          <p:cNvSpPr/>
          <p:nvPr/>
        </p:nvSpPr>
        <p:spPr>
          <a:xfrm>
            <a:off x="7388352" y="3813048"/>
            <a:ext cx="4206240" cy="219456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9248" y="4096512"/>
            <a:ext cx="3474720" cy="320040"/>
          </a:xfrm>
          <a:prstGeom prst="rect">
            <a:avLst/>
          </a:prstGeom>
          <a:noFill/>
        </p:spPr>
        <p:txBody>
          <a:bodyPr wrap="square" anchor="t">
            <a:spAutoFit/>
          </a:bodyPr>
          <a:lstStyle/>
          <a:p>
            <a:pPr algn="l"/>
            <a:r>
              <a:rPr sz="1300" b="1">
                <a:solidFill>
                  <a:srgbClr val="295E4A"/>
                </a:solidFill>
                <a:latin typeface="Aptos"/>
              </a:rPr>
              <a:t>Một thông tin đáng nhớ</a:t>
            </a:r>
          </a:p>
        </p:txBody>
      </p:sp>
      <p:sp>
        <p:nvSpPr>
          <p:cNvPr id="31" name="TextBox 30"/>
          <p:cNvSpPr txBox="1"/>
          <p:nvPr/>
        </p:nvSpPr>
        <p:spPr>
          <a:xfrm>
            <a:off x="7699248" y="4590288"/>
            <a:ext cx="3401568" cy="566928"/>
          </a:xfrm>
          <a:prstGeom prst="rect">
            <a:avLst/>
          </a:prstGeom>
          <a:noFill/>
        </p:spPr>
        <p:txBody>
          <a:bodyPr wrap="square" anchor="t">
            <a:spAutoFit/>
          </a:bodyPr>
          <a:lstStyle/>
          <a:p>
            <a:pPr algn="l"/>
            <a:r>
              <a:rPr sz="1700" b="1">
                <a:solidFill>
                  <a:srgbClr val="1C242A"/>
                </a:solidFill>
                <a:latin typeface="Aptos"/>
              </a:rPr>
              <a:t>Tháng 6/1964, trường dời về vị trí hiện nay.</a:t>
            </a:r>
          </a:p>
        </p:txBody>
      </p:sp>
      <p:sp>
        <p:nvSpPr>
          <p:cNvPr id="32" name="TextBox 31"/>
          <p:cNvSpPr txBox="1"/>
          <p:nvPr/>
        </p:nvSpPr>
        <p:spPr>
          <a:xfrm>
            <a:off x="7699248" y="5239512"/>
            <a:ext cx="3401568" cy="475488"/>
          </a:xfrm>
          <a:prstGeom prst="rect">
            <a:avLst/>
          </a:prstGeom>
          <a:noFill/>
        </p:spPr>
        <p:txBody>
          <a:bodyPr wrap="square" anchor="t">
            <a:spAutoFit/>
          </a:bodyPr>
          <a:lstStyle/>
          <a:p>
            <a:pPr algn="l"/>
            <a:r>
              <a:rPr sz="1120" b="0">
                <a:solidFill>
                  <a:srgbClr val="5C6972"/>
                </a:solidFill>
                <a:latin typeface="Aptos"/>
              </a:rPr>
              <a:t>Đây là mốc giúp kết nối lịch sử ban đầu với cơ sở trường hiện tại.</a:t>
            </a:r>
          </a:p>
        </p:txBody>
      </p:sp>
      <p:cxnSp>
        <p:nvCxnSpPr>
          <p:cNvPr id="33" name="Connector 32"/>
          <p:cNvCxnSpPr/>
          <p:nvPr/>
        </p:nvCxnSpPr>
        <p:spPr>
          <a:xfrm>
            <a:off x="594360" y="6473952"/>
            <a:ext cx="11000232"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1792" y="6519672"/>
            <a:ext cx="10149840" cy="164592"/>
          </a:xfrm>
          <a:prstGeom prst="rect">
            <a:avLst/>
          </a:prstGeom>
          <a:noFill/>
        </p:spPr>
        <p:txBody>
          <a:bodyPr wrap="square" anchor="t">
            <a:spAutoFit/>
          </a:bodyPr>
          <a:lstStyle/>
          <a:p>
            <a:pPr algn="l"/>
            <a:r>
              <a:rPr sz="780" b="0">
                <a:solidFill>
                  <a:srgbClr val="5C6972"/>
                </a:solidFill>
                <a:latin typeface="Aptos"/>
              </a:rPr>
              <a:t>Nguồn: thptductrong.edu.vn – “Thông tin chung về Trường THPT Đức Trọng Năm 2026”; “Lịch sử Trường THPT Đức Trọng”.</a:t>
            </a:r>
          </a:p>
        </p:txBody>
      </p:sp>
      <p:sp>
        <p:nvSpPr>
          <p:cNvPr id="35" name="TextBox 34"/>
          <p:cNvSpPr txBox="1"/>
          <p:nvPr/>
        </p:nvSpPr>
        <p:spPr>
          <a:xfrm>
            <a:off x="11064240" y="6492240"/>
            <a:ext cx="502920" cy="201168"/>
          </a:xfrm>
          <a:prstGeom prst="rect">
            <a:avLst/>
          </a:prstGeom>
          <a:noFill/>
        </p:spPr>
        <p:txBody>
          <a:bodyPr wrap="square" anchor="t">
            <a:spAutoFit/>
          </a:bodyPr>
          <a:lstStyle/>
          <a:p>
            <a:pPr algn="r"/>
            <a:r>
              <a:rPr sz="800" b="1">
                <a:solidFill>
                  <a:srgbClr val="5C6972"/>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875520" cy="502920"/>
          </a:xfrm>
          <a:prstGeom prst="rect">
            <a:avLst/>
          </a:prstGeom>
          <a:noFill/>
        </p:spPr>
        <p:txBody>
          <a:bodyPr wrap="square" anchor="t">
            <a:spAutoFit/>
          </a:bodyPr>
          <a:lstStyle/>
          <a:p>
            <a:pPr algn="l"/>
            <a:r>
              <a:rPr sz="2700" b="1">
                <a:solidFill>
                  <a:srgbClr val="13304A"/>
                </a:solidFill>
                <a:latin typeface="Aptos Display"/>
              </a:rPr>
              <a:t>2. Truyền thống và các dấu mốc nổi bật</a:t>
            </a:r>
          </a:p>
        </p:txBody>
      </p:sp>
      <p:cxnSp>
        <p:nvCxnSpPr>
          <p:cNvPr id="4" name="Connector 3"/>
          <p:cNvCxnSpPr/>
          <p:nvPr/>
        </p:nvCxnSpPr>
        <p:spPr>
          <a:xfrm>
            <a:off x="594360" y="987552"/>
            <a:ext cx="11000232" cy="0"/>
          </a:xfrm>
          <a:prstGeom prst="line">
            <a:avLst/>
          </a:prstGeom>
          <a:ln w="2159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2648" y="1078992"/>
            <a:ext cx="10698480" cy="411480"/>
          </a:xfrm>
          <a:prstGeom prst="rect">
            <a:avLst/>
          </a:prstGeom>
          <a:noFill/>
        </p:spPr>
        <p:txBody>
          <a:bodyPr wrap="square" anchor="t">
            <a:spAutoFit/>
          </a:bodyPr>
          <a:lstStyle/>
          <a:p>
            <a:pPr algn="l"/>
            <a:r>
              <a:rPr sz="1200" b="0">
                <a:solidFill>
                  <a:srgbClr val="5C6972"/>
                </a:solidFill>
                <a:latin typeface="Aptos"/>
              </a:rPr>
              <a:t>Tóm lược từ lịch sử hình thành và phát triển do trường công bố.</a:t>
            </a:r>
          </a:p>
        </p:txBody>
      </p:sp>
      <p:sp>
        <p:nvSpPr>
          <p:cNvPr id="6" name="TextBox 5"/>
          <p:cNvSpPr txBox="1"/>
          <p:nvPr/>
        </p:nvSpPr>
        <p:spPr>
          <a:xfrm>
            <a:off x="10972800" y="411480"/>
            <a:ext cx="548640" cy="320040"/>
          </a:xfrm>
          <a:prstGeom prst="rect">
            <a:avLst/>
          </a:prstGeom>
          <a:noFill/>
        </p:spPr>
        <p:txBody>
          <a:bodyPr wrap="square" anchor="t">
            <a:spAutoFit/>
          </a:bodyPr>
          <a:lstStyle/>
          <a:p>
            <a:pPr algn="r"/>
            <a:r>
              <a:rPr sz="1100" b="1">
                <a:solidFill>
                  <a:srgbClr val="5C6972"/>
                </a:solidFill>
                <a:latin typeface="Aptos"/>
              </a:rPr>
              <a:t>03</a:t>
            </a:r>
          </a:p>
        </p:txBody>
      </p:sp>
      <p:cxnSp>
        <p:nvCxnSpPr>
          <p:cNvPr id="7" name="Connector 6"/>
          <p:cNvCxnSpPr/>
          <p:nvPr/>
        </p:nvCxnSpPr>
        <p:spPr>
          <a:xfrm>
            <a:off x="914400" y="3611880"/>
            <a:ext cx="10287000" cy="0"/>
          </a:xfrm>
          <a:prstGeom prst="line">
            <a:avLst/>
          </a:prstGeom>
          <a:ln w="38100">
            <a:solidFill>
              <a:srgbClr val="D8DFDC"/>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1520" y="2240280"/>
            <a:ext cx="1417320" cy="1078992"/>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95728"/>
            <a:ext cx="1234440" cy="228600"/>
          </a:xfrm>
          <a:prstGeom prst="rect">
            <a:avLst/>
          </a:prstGeom>
          <a:noFill/>
        </p:spPr>
        <p:txBody>
          <a:bodyPr wrap="square" anchor="t">
            <a:spAutoFit/>
          </a:bodyPr>
          <a:lstStyle/>
          <a:p>
            <a:pPr algn="ctr"/>
            <a:r>
              <a:rPr sz="1100" b="1">
                <a:solidFill>
                  <a:srgbClr val="295E4A"/>
                </a:solidFill>
                <a:latin typeface="Aptos"/>
              </a:rPr>
              <a:t>1962–1963</a:t>
            </a:r>
          </a:p>
        </p:txBody>
      </p:sp>
      <p:sp>
        <p:nvSpPr>
          <p:cNvPr id="10" name="TextBox 9"/>
          <p:cNvSpPr txBox="1"/>
          <p:nvPr/>
        </p:nvSpPr>
        <p:spPr>
          <a:xfrm>
            <a:off x="804672" y="2670048"/>
            <a:ext cx="1271016" cy="438912"/>
          </a:xfrm>
          <a:prstGeom prst="rect">
            <a:avLst/>
          </a:prstGeom>
          <a:noFill/>
        </p:spPr>
        <p:txBody>
          <a:bodyPr wrap="square" anchor="t">
            <a:spAutoFit/>
          </a:bodyPr>
          <a:lstStyle/>
          <a:p>
            <a:pPr algn="ctr"/>
            <a:r>
              <a:rPr sz="1120" b="1">
                <a:solidFill>
                  <a:srgbClr val="13304A"/>
                </a:solidFill>
                <a:latin typeface="Aptos"/>
              </a:rPr>
              <a:t>Ra đời</a:t>
            </a:r>
          </a:p>
        </p:txBody>
      </p:sp>
      <p:sp>
        <p:nvSpPr>
          <p:cNvPr id="11" name="Oval 10"/>
          <p:cNvSpPr/>
          <p:nvPr/>
        </p:nvSpPr>
        <p:spPr>
          <a:xfrm>
            <a:off x="1344168" y="3456432"/>
            <a:ext cx="237744" cy="237744"/>
          </a:xfrm>
          <a:prstGeom prst="ellipse">
            <a:avLst/>
          </a:prstGeom>
          <a:solidFill>
            <a:srgbClr val="BE964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913632"/>
            <a:ext cx="1554480" cy="1143000"/>
          </a:xfrm>
          <a:prstGeom prst="rect">
            <a:avLst/>
          </a:prstGeom>
          <a:noFill/>
        </p:spPr>
        <p:txBody>
          <a:bodyPr wrap="square" anchor="t">
            <a:spAutoFit/>
          </a:bodyPr>
          <a:lstStyle/>
          <a:p>
            <a:pPr algn="ctr"/>
            <a:r>
              <a:rPr sz="1060" b="0">
                <a:solidFill>
                  <a:srgbClr val="5C6972"/>
                </a:solidFill>
                <a:latin typeface="Aptos"/>
              </a:rPr>
              <a:t>Trung học Đức Trọng</a:t>
            </a:r>
          </a:p>
        </p:txBody>
      </p:sp>
      <p:sp>
        <p:nvSpPr>
          <p:cNvPr id="13" name="Rounded Rectangle 12"/>
          <p:cNvSpPr/>
          <p:nvPr/>
        </p:nvSpPr>
        <p:spPr>
          <a:xfrm>
            <a:off x="2514600" y="2240280"/>
            <a:ext cx="1417320" cy="1078992"/>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06040" y="2395728"/>
            <a:ext cx="1234440" cy="228600"/>
          </a:xfrm>
          <a:prstGeom prst="rect">
            <a:avLst/>
          </a:prstGeom>
          <a:noFill/>
        </p:spPr>
        <p:txBody>
          <a:bodyPr wrap="square" anchor="t">
            <a:spAutoFit/>
          </a:bodyPr>
          <a:lstStyle/>
          <a:p>
            <a:pPr algn="ctr"/>
            <a:r>
              <a:rPr sz="1100" b="1">
                <a:solidFill>
                  <a:srgbClr val="295E4A"/>
                </a:solidFill>
                <a:latin typeface="Aptos"/>
              </a:rPr>
              <a:t>1964</a:t>
            </a:r>
          </a:p>
        </p:txBody>
      </p:sp>
      <p:sp>
        <p:nvSpPr>
          <p:cNvPr id="15" name="TextBox 14"/>
          <p:cNvSpPr txBox="1"/>
          <p:nvPr/>
        </p:nvSpPr>
        <p:spPr>
          <a:xfrm>
            <a:off x="2587752" y="2670048"/>
            <a:ext cx="1271016" cy="438912"/>
          </a:xfrm>
          <a:prstGeom prst="rect">
            <a:avLst/>
          </a:prstGeom>
          <a:noFill/>
        </p:spPr>
        <p:txBody>
          <a:bodyPr wrap="square" anchor="t">
            <a:spAutoFit/>
          </a:bodyPr>
          <a:lstStyle/>
          <a:p>
            <a:pPr algn="ctr"/>
            <a:r>
              <a:rPr sz="1120" b="1">
                <a:solidFill>
                  <a:srgbClr val="13304A"/>
                </a:solidFill>
                <a:latin typeface="Aptos"/>
              </a:rPr>
              <a:t>Chuyển địa điểm</a:t>
            </a:r>
          </a:p>
        </p:txBody>
      </p:sp>
      <p:sp>
        <p:nvSpPr>
          <p:cNvPr id="16" name="Oval 15"/>
          <p:cNvSpPr/>
          <p:nvPr/>
        </p:nvSpPr>
        <p:spPr>
          <a:xfrm>
            <a:off x="3127248" y="3456432"/>
            <a:ext cx="237744" cy="237744"/>
          </a:xfrm>
          <a:prstGeom prst="ellipse">
            <a:avLst/>
          </a:prstGeom>
          <a:solidFill>
            <a:srgbClr val="BE964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3913632"/>
            <a:ext cx="1554480" cy="1143000"/>
          </a:xfrm>
          <a:prstGeom prst="rect">
            <a:avLst/>
          </a:prstGeom>
          <a:noFill/>
        </p:spPr>
        <p:txBody>
          <a:bodyPr wrap="square" anchor="t">
            <a:spAutoFit/>
          </a:bodyPr>
          <a:lstStyle/>
          <a:p>
            <a:pPr algn="ctr"/>
            <a:r>
              <a:rPr sz="1060" b="0">
                <a:solidFill>
                  <a:srgbClr val="5C6972"/>
                </a:solidFill>
                <a:latin typeface="Aptos"/>
              </a:rPr>
              <a:t>Về vị trí hiện nay</a:t>
            </a:r>
          </a:p>
        </p:txBody>
      </p:sp>
      <p:sp>
        <p:nvSpPr>
          <p:cNvPr id="18" name="Rounded Rectangle 17"/>
          <p:cNvSpPr/>
          <p:nvPr/>
        </p:nvSpPr>
        <p:spPr>
          <a:xfrm>
            <a:off x="4297680" y="2240280"/>
            <a:ext cx="1417320" cy="1078992"/>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89120" y="2395728"/>
            <a:ext cx="1234440" cy="228600"/>
          </a:xfrm>
          <a:prstGeom prst="rect">
            <a:avLst/>
          </a:prstGeom>
          <a:noFill/>
        </p:spPr>
        <p:txBody>
          <a:bodyPr wrap="square" anchor="t">
            <a:spAutoFit/>
          </a:bodyPr>
          <a:lstStyle/>
          <a:p>
            <a:pPr algn="ctr"/>
            <a:r>
              <a:rPr sz="1100" b="1">
                <a:solidFill>
                  <a:srgbClr val="295E4A"/>
                </a:solidFill>
                <a:latin typeface="Aptos"/>
              </a:rPr>
              <a:t>2009</a:t>
            </a:r>
          </a:p>
        </p:txBody>
      </p:sp>
      <p:sp>
        <p:nvSpPr>
          <p:cNvPr id="20" name="TextBox 19"/>
          <p:cNvSpPr txBox="1"/>
          <p:nvPr/>
        </p:nvSpPr>
        <p:spPr>
          <a:xfrm>
            <a:off x="4370832" y="2670048"/>
            <a:ext cx="1271016" cy="438912"/>
          </a:xfrm>
          <a:prstGeom prst="rect">
            <a:avLst/>
          </a:prstGeom>
          <a:noFill/>
        </p:spPr>
        <p:txBody>
          <a:bodyPr wrap="square" anchor="t">
            <a:spAutoFit/>
          </a:bodyPr>
          <a:lstStyle/>
          <a:p>
            <a:pPr algn="ctr"/>
            <a:r>
              <a:rPr sz="1120" b="1">
                <a:solidFill>
                  <a:srgbClr val="13304A"/>
                </a:solidFill>
                <a:latin typeface="Aptos"/>
              </a:rPr>
              <a:t>Chuẩn quốc gia</a:t>
            </a:r>
          </a:p>
        </p:txBody>
      </p:sp>
      <p:sp>
        <p:nvSpPr>
          <p:cNvPr id="21" name="Oval 20"/>
          <p:cNvSpPr/>
          <p:nvPr/>
        </p:nvSpPr>
        <p:spPr>
          <a:xfrm>
            <a:off x="4910328" y="3456432"/>
            <a:ext cx="237744" cy="237744"/>
          </a:xfrm>
          <a:prstGeom prst="ellipse">
            <a:avLst/>
          </a:prstGeom>
          <a:solidFill>
            <a:srgbClr val="BE964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51960" y="3913632"/>
            <a:ext cx="1554480" cy="1143000"/>
          </a:xfrm>
          <a:prstGeom prst="rect">
            <a:avLst/>
          </a:prstGeom>
          <a:noFill/>
        </p:spPr>
        <p:txBody>
          <a:bodyPr wrap="square" anchor="t">
            <a:spAutoFit/>
          </a:bodyPr>
          <a:lstStyle/>
          <a:p>
            <a:pPr algn="ctr"/>
            <a:r>
              <a:rPr sz="1060" b="0">
                <a:solidFill>
                  <a:srgbClr val="5C6972"/>
                </a:solidFill>
                <a:latin typeface="Aptos"/>
              </a:rPr>
              <a:t>Được công nhận là trường THPT đầu tiên của tỉnh đạt chuẩn quốc gia</a:t>
            </a:r>
          </a:p>
        </p:txBody>
      </p:sp>
      <p:sp>
        <p:nvSpPr>
          <p:cNvPr id="23" name="Rounded Rectangle 22"/>
          <p:cNvSpPr/>
          <p:nvPr/>
        </p:nvSpPr>
        <p:spPr>
          <a:xfrm>
            <a:off x="6400800" y="2240280"/>
            <a:ext cx="1417320" cy="1078992"/>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395728"/>
            <a:ext cx="1234440" cy="228600"/>
          </a:xfrm>
          <a:prstGeom prst="rect">
            <a:avLst/>
          </a:prstGeom>
          <a:noFill/>
        </p:spPr>
        <p:txBody>
          <a:bodyPr wrap="square" anchor="t">
            <a:spAutoFit/>
          </a:bodyPr>
          <a:lstStyle/>
          <a:p>
            <a:pPr algn="ctr"/>
            <a:r>
              <a:rPr sz="1100" b="1">
                <a:solidFill>
                  <a:srgbClr val="295E4A"/>
                </a:solidFill>
                <a:latin typeface="Aptos"/>
              </a:rPr>
              <a:t>2013</a:t>
            </a:r>
          </a:p>
        </p:txBody>
      </p:sp>
      <p:sp>
        <p:nvSpPr>
          <p:cNvPr id="25" name="TextBox 24"/>
          <p:cNvSpPr txBox="1"/>
          <p:nvPr/>
        </p:nvSpPr>
        <p:spPr>
          <a:xfrm>
            <a:off x="6473952" y="2670048"/>
            <a:ext cx="1271016" cy="438912"/>
          </a:xfrm>
          <a:prstGeom prst="rect">
            <a:avLst/>
          </a:prstGeom>
          <a:noFill/>
        </p:spPr>
        <p:txBody>
          <a:bodyPr wrap="square" anchor="t">
            <a:spAutoFit/>
          </a:bodyPr>
          <a:lstStyle/>
          <a:p>
            <a:pPr algn="ctr"/>
            <a:r>
              <a:rPr sz="1120" b="1">
                <a:solidFill>
                  <a:srgbClr val="13304A"/>
                </a:solidFill>
                <a:latin typeface="Aptos"/>
              </a:rPr>
              <a:t>Huân chương LĐ hạng Ba</a:t>
            </a:r>
          </a:p>
        </p:txBody>
      </p:sp>
      <p:sp>
        <p:nvSpPr>
          <p:cNvPr id="26" name="Oval 25"/>
          <p:cNvSpPr/>
          <p:nvPr/>
        </p:nvSpPr>
        <p:spPr>
          <a:xfrm>
            <a:off x="7013448" y="3456432"/>
            <a:ext cx="237744" cy="237744"/>
          </a:xfrm>
          <a:prstGeom prst="ellipse">
            <a:avLst/>
          </a:prstGeom>
          <a:solidFill>
            <a:srgbClr val="BE964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3913632"/>
            <a:ext cx="1554480" cy="1143000"/>
          </a:xfrm>
          <a:prstGeom prst="rect">
            <a:avLst/>
          </a:prstGeom>
          <a:noFill/>
        </p:spPr>
        <p:txBody>
          <a:bodyPr wrap="square" anchor="t">
            <a:spAutoFit/>
          </a:bodyPr>
          <a:lstStyle/>
          <a:p>
            <a:pPr algn="ctr"/>
            <a:r>
              <a:rPr sz="1060" b="0">
                <a:solidFill>
                  <a:srgbClr val="5C6972"/>
                </a:solidFill>
                <a:latin typeface="Aptos"/>
              </a:rPr>
              <a:t>Tập thể nhà trường</a:t>
            </a:r>
          </a:p>
        </p:txBody>
      </p:sp>
      <p:sp>
        <p:nvSpPr>
          <p:cNvPr id="28" name="Rounded Rectangle 27"/>
          <p:cNvSpPr/>
          <p:nvPr/>
        </p:nvSpPr>
        <p:spPr>
          <a:xfrm>
            <a:off x="8339327" y="2240280"/>
            <a:ext cx="1417320" cy="1078992"/>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30767" y="2395728"/>
            <a:ext cx="1234440" cy="228600"/>
          </a:xfrm>
          <a:prstGeom prst="rect">
            <a:avLst/>
          </a:prstGeom>
          <a:noFill/>
        </p:spPr>
        <p:txBody>
          <a:bodyPr wrap="square" anchor="t">
            <a:spAutoFit/>
          </a:bodyPr>
          <a:lstStyle/>
          <a:p>
            <a:pPr algn="ctr"/>
            <a:r>
              <a:rPr sz="1100" b="1">
                <a:solidFill>
                  <a:srgbClr val="295E4A"/>
                </a:solidFill>
                <a:latin typeface="Aptos"/>
              </a:rPr>
              <a:t>2018</a:t>
            </a:r>
          </a:p>
        </p:txBody>
      </p:sp>
      <p:sp>
        <p:nvSpPr>
          <p:cNvPr id="30" name="TextBox 29"/>
          <p:cNvSpPr txBox="1"/>
          <p:nvPr/>
        </p:nvSpPr>
        <p:spPr>
          <a:xfrm>
            <a:off x="8412480" y="2670048"/>
            <a:ext cx="1271016" cy="438912"/>
          </a:xfrm>
          <a:prstGeom prst="rect">
            <a:avLst/>
          </a:prstGeom>
          <a:noFill/>
        </p:spPr>
        <p:txBody>
          <a:bodyPr wrap="square" anchor="t">
            <a:spAutoFit/>
          </a:bodyPr>
          <a:lstStyle/>
          <a:p>
            <a:pPr algn="ctr"/>
            <a:r>
              <a:rPr sz="1120" b="1">
                <a:solidFill>
                  <a:srgbClr val="13304A"/>
                </a:solidFill>
                <a:latin typeface="Aptos"/>
              </a:rPr>
              <a:t>Huân chương LĐ hạng Nhì</a:t>
            </a:r>
          </a:p>
        </p:txBody>
      </p:sp>
      <p:sp>
        <p:nvSpPr>
          <p:cNvPr id="31" name="Oval 30"/>
          <p:cNvSpPr/>
          <p:nvPr/>
        </p:nvSpPr>
        <p:spPr>
          <a:xfrm>
            <a:off x="8951976" y="3456432"/>
            <a:ext cx="237744" cy="237744"/>
          </a:xfrm>
          <a:prstGeom prst="ellipse">
            <a:avLst/>
          </a:prstGeom>
          <a:solidFill>
            <a:srgbClr val="BE964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93607" y="3913632"/>
            <a:ext cx="1554480" cy="1143000"/>
          </a:xfrm>
          <a:prstGeom prst="rect">
            <a:avLst/>
          </a:prstGeom>
          <a:noFill/>
        </p:spPr>
        <p:txBody>
          <a:bodyPr wrap="square" anchor="t">
            <a:spAutoFit/>
          </a:bodyPr>
          <a:lstStyle/>
          <a:p>
            <a:pPr algn="ctr"/>
            <a:r>
              <a:rPr sz="1060" b="0">
                <a:solidFill>
                  <a:srgbClr val="5C6972"/>
                </a:solidFill>
                <a:latin typeface="Aptos"/>
              </a:rPr>
              <a:t>Tập thể nhà trường</a:t>
            </a:r>
          </a:p>
        </p:txBody>
      </p:sp>
      <p:sp>
        <p:nvSpPr>
          <p:cNvPr id="33" name="Rounded Rectangle 32"/>
          <p:cNvSpPr/>
          <p:nvPr/>
        </p:nvSpPr>
        <p:spPr>
          <a:xfrm>
            <a:off x="10287000" y="2240280"/>
            <a:ext cx="1417320" cy="1078992"/>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78440" y="2395728"/>
            <a:ext cx="1234440" cy="228600"/>
          </a:xfrm>
          <a:prstGeom prst="rect">
            <a:avLst/>
          </a:prstGeom>
          <a:noFill/>
        </p:spPr>
        <p:txBody>
          <a:bodyPr wrap="square" anchor="t">
            <a:spAutoFit/>
          </a:bodyPr>
          <a:lstStyle/>
          <a:p>
            <a:pPr algn="ctr"/>
            <a:r>
              <a:rPr sz="1100" b="1">
                <a:solidFill>
                  <a:srgbClr val="295E4A"/>
                </a:solidFill>
                <a:latin typeface="Aptos"/>
              </a:rPr>
              <a:t>12/2022–nay</a:t>
            </a:r>
          </a:p>
        </p:txBody>
      </p:sp>
      <p:sp>
        <p:nvSpPr>
          <p:cNvPr id="35" name="TextBox 34"/>
          <p:cNvSpPr txBox="1"/>
          <p:nvPr/>
        </p:nvSpPr>
        <p:spPr>
          <a:xfrm>
            <a:off x="10360152" y="2670048"/>
            <a:ext cx="1271016" cy="438912"/>
          </a:xfrm>
          <a:prstGeom prst="rect">
            <a:avLst/>
          </a:prstGeom>
          <a:noFill/>
        </p:spPr>
        <p:txBody>
          <a:bodyPr wrap="square" anchor="t">
            <a:spAutoFit/>
          </a:bodyPr>
          <a:lstStyle/>
          <a:p>
            <a:pPr algn="ctr"/>
            <a:r>
              <a:rPr sz="1120" b="1">
                <a:solidFill>
                  <a:srgbClr val="13304A"/>
                </a:solidFill>
                <a:latin typeface="Aptos"/>
              </a:rPr>
              <a:t>Hiệu trưởng</a:t>
            </a:r>
          </a:p>
        </p:txBody>
      </p:sp>
      <p:sp>
        <p:nvSpPr>
          <p:cNvPr id="36" name="Oval 35"/>
          <p:cNvSpPr/>
          <p:nvPr/>
        </p:nvSpPr>
        <p:spPr>
          <a:xfrm>
            <a:off x="10899648" y="3456432"/>
            <a:ext cx="237744" cy="237744"/>
          </a:xfrm>
          <a:prstGeom prst="ellipse">
            <a:avLst/>
          </a:prstGeom>
          <a:solidFill>
            <a:srgbClr val="BE964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241280" y="3913632"/>
            <a:ext cx="1554480" cy="1143000"/>
          </a:xfrm>
          <a:prstGeom prst="rect">
            <a:avLst/>
          </a:prstGeom>
          <a:noFill/>
        </p:spPr>
        <p:txBody>
          <a:bodyPr wrap="square" anchor="t">
            <a:spAutoFit/>
          </a:bodyPr>
          <a:lstStyle/>
          <a:p>
            <a:pPr algn="ctr"/>
            <a:r>
              <a:rPr sz="1060" b="0">
                <a:solidFill>
                  <a:srgbClr val="5C6972"/>
                </a:solidFill>
                <a:latin typeface="Aptos"/>
              </a:rPr>
              <a:t>Thầy Phạm Quốc Quỳnh</a:t>
            </a:r>
          </a:p>
        </p:txBody>
      </p:sp>
      <p:sp>
        <p:nvSpPr>
          <p:cNvPr id="38" name="Rounded Rectangle 37"/>
          <p:cNvSpPr/>
          <p:nvPr/>
        </p:nvSpPr>
        <p:spPr>
          <a:xfrm>
            <a:off x="868680" y="5513832"/>
            <a:ext cx="10561320" cy="640080"/>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43000" y="5669280"/>
            <a:ext cx="10012680" cy="274320"/>
          </a:xfrm>
          <a:prstGeom prst="rect">
            <a:avLst/>
          </a:prstGeom>
          <a:noFill/>
        </p:spPr>
        <p:txBody>
          <a:bodyPr wrap="square" anchor="t">
            <a:spAutoFit/>
          </a:bodyPr>
          <a:lstStyle/>
          <a:p>
            <a:pPr algn="ctr"/>
            <a:r>
              <a:rPr sz="1500" b="1">
                <a:solidFill>
                  <a:srgbClr val="295E4A"/>
                </a:solidFill>
                <a:latin typeface="Aptos"/>
              </a:rPr>
              <a:t>Tinh thần được nhà trường nhấn mạnh: “Trọng đức – Trọng tài”.</a:t>
            </a:r>
          </a:p>
        </p:txBody>
      </p:sp>
      <p:cxnSp>
        <p:nvCxnSpPr>
          <p:cNvPr id="40" name="Connector 39"/>
          <p:cNvCxnSpPr/>
          <p:nvPr/>
        </p:nvCxnSpPr>
        <p:spPr>
          <a:xfrm>
            <a:off x="594360" y="6473952"/>
            <a:ext cx="11000232"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21792" y="6519672"/>
            <a:ext cx="10149840" cy="164592"/>
          </a:xfrm>
          <a:prstGeom prst="rect">
            <a:avLst/>
          </a:prstGeom>
          <a:noFill/>
        </p:spPr>
        <p:txBody>
          <a:bodyPr wrap="square" anchor="t">
            <a:spAutoFit/>
          </a:bodyPr>
          <a:lstStyle/>
          <a:p>
            <a:pPr algn="l"/>
            <a:r>
              <a:rPr sz="780" b="0">
                <a:solidFill>
                  <a:srgbClr val="5C6972"/>
                </a:solidFill>
                <a:latin typeface="Aptos"/>
              </a:rPr>
              <a:t>Nguồn: thptductrong.edu.vn – “Lịch sử Trường THPT Đức Trọng”; “Lễ kỷ niệm 60 năm”.</a:t>
            </a:r>
          </a:p>
        </p:txBody>
      </p:sp>
      <p:sp>
        <p:nvSpPr>
          <p:cNvPr id="42" name="TextBox 41"/>
          <p:cNvSpPr txBox="1"/>
          <p:nvPr/>
        </p:nvSpPr>
        <p:spPr>
          <a:xfrm>
            <a:off x="11064240" y="6492240"/>
            <a:ext cx="502920" cy="201168"/>
          </a:xfrm>
          <a:prstGeom prst="rect">
            <a:avLst/>
          </a:prstGeom>
          <a:noFill/>
        </p:spPr>
        <p:txBody>
          <a:bodyPr wrap="square" anchor="t">
            <a:spAutoFit/>
          </a:bodyPr>
          <a:lstStyle/>
          <a:p>
            <a:pPr algn="r"/>
            <a:r>
              <a:rPr sz="800" b="1">
                <a:solidFill>
                  <a:srgbClr val="5C6972"/>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875520" cy="502920"/>
          </a:xfrm>
          <a:prstGeom prst="rect">
            <a:avLst/>
          </a:prstGeom>
          <a:noFill/>
        </p:spPr>
        <p:txBody>
          <a:bodyPr wrap="square" anchor="t">
            <a:spAutoFit/>
          </a:bodyPr>
          <a:lstStyle/>
          <a:p>
            <a:pPr algn="l"/>
            <a:r>
              <a:rPr sz="2700" b="1">
                <a:solidFill>
                  <a:srgbClr val="13304A"/>
                </a:solidFill>
                <a:latin typeface="Aptos Display"/>
              </a:rPr>
              <a:t>3. Đội ngũ giáo viên và cán bộ quản lý</a:t>
            </a:r>
          </a:p>
        </p:txBody>
      </p:sp>
      <p:cxnSp>
        <p:nvCxnSpPr>
          <p:cNvPr id="4" name="Connector 3"/>
          <p:cNvCxnSpPr/>
          <p:nvPr/>
        </p:nvCxnSpPr>
        <p:spPr>
          <a:xfrm>
            <a:off x="594360" y="987552"/>
            <a:ext cx="11000232" cy="0"/>
          </a:xfrm>
          <a:prstGeom prst="line">
            <a:avLst/>
          </a:prstGeom>
          <a:ln w="2159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2648" y="1078992"/>
            <a:ext cx="10698480" cy="411480"/>
          </a:xfrm>
          <a:prstGeom prst="rect">
            <a:avLst/>
          </a:prstGeom>
          <a:noFill/>
        </p:spPr>
        <p:txBody>
          <a:bodyPr wrap="square" anchor="t">
            <a:spAutoFit/>
          </a:bodyPr>
          <a:lstStyle/>
          <a:p>
            <a:pPr algn="l"/>
            <a:r>
              <a:rPr sz="1200" b="0">
                <a:solidFill>
                  <a:srgbClr val="5C6972"/>
                </a:solidFill>
                <a:latin typeface="Aptos"/>
              </a:rPr>
              <a:t>Tập trung vào thông tin có thể kiểm chứng; không dùng số liệu cũ để đại diện cho năm 2026.</a:t>
            </a:r>
          </a:p>
        </p:txBody>
      </p:sp>
      <p:sp>
        <p:nvSpPr>
          <p:cNvPr id="6" name="TextBox 5"/>
          <p:cNvSpPr txBox="1"/>
          <p:nvPr/>
        </p:nvSpPr>
        <p:spPr>
          <a:xfrm>
            <a:off x="10972800" y="411480"/>
            <a:ext cx="548640" cy="320040"/>
          </a:xfrm>
          <a:prstGeom prst="rect">
            <a:avLst/>
          </a:prstGeom>
          <a:noFill/>
        </p:spPr>
        <p:txBody>
          <a:bodyPr wrap="square" anchor="t">
            <a:spAutoFit/>
          </a:bodyPr>
          <a:lstStyle/>
          <a:p>
            <a:pPr algn="r"/>
            <a:r>
              <a:rPr sz="1100" b="1">
                <a:solidFill>
                  <a:srgbClr val="5C6972"/>
                </a:solidFill>
                <a:latin typeface="Aptos"/>
              </a:rPr>
              <a:t>04</a:t>
            </a:r>
          </a:p>
        </p:txBody>
      </p:sp>
      <p:sp>
        <p:nvSpPr>
          <p:cNvPr id="7" name="TextBox 6"/>
          <p:cNvSpPr txBox="1"/>
          <p:nvPr/>
        </p:nvSpPr>
        <p:spPr>
          <a:xfrm>
            <a:off x="685800" y="1481328"/>
            <a:ext cx="2743200" cy="365760"/>
          </a:xfrm>
          <a:prstGeom prst="rect">
            <a:avLst/>
          </a:prstGeom>
          <a:noFill/>
        </p:spPr>
        <p:txBody>
          <a:bodyPr wrap="square" anchor="t">
            <a:spAutoFit/>
          </a:bodyPr>
          <a:lstStyle/>
          <a:p>
            <a:pPr algn="l"/>
            <a:r>
              <a:rPr sz="1900" b="1">
                <a:solidFill>
                  <a:srgbClr val="13304A"/>
                </a:solidFill>
                <a:latin typeface="Aptos Display"/>
              </a:rPr>
              <a:t>Cơ cấu đội ngũ</a:t>
            </a:r>
          </a:p>
        </p:txBody>
      </p:sp>
      <p:sp>
        <p:nvSpPr>
          <p:cNvPr id="8" name="Rounded Rectangle 7"/>
          <p:cNvSpPr/>
          <p:nvPr/>
        </p:nvSpPr>
        <p:spPr>
          <a:xfrm>
            <a:off x="685800" y="2011680"/>
            <a:ext cx="4800600" cy="96012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96112" y="2176272"/>
            <a:ext cx="1417320" cy="292608"/>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194560"/>
            <a:ext cx="1417320" cy="274320"/>
          </a:xfrm>
          <a:prstGeom prst="rect">
            <a:avLst/>
          </a:prstGeom>
          <a:noFill/>
        </p:spPr>
        <p:txBody>
          <a:bodyPr wrap="square" anchor="ctr">
            <a:spAutoFit/>
          </a:bodyPr>
          <a:lstStyle/>
          <a:p>
            <a:pPr algn="ctr"/>
            <a:r>
              <a:rPr sz="919" b="1">
                <a:solidFill>
                  <a:srgbClr val="295E4A"/>
                </a:solidFill>
                <a:latin typeface="Aptos"/>
              </a:rPr>
              <a:t>Ban Giám hiệu</a:t>
            </a:r>
          </a:p>
        </p:txBody>
      </p:sp>
      <p:sp>
        <p:nvSpPr>
          <p:cNvPr id="11" name="TextBox 10"/>
          <p:cNvSpPr txBox="1"/>
          <p:nvPr/>
        </p:nvSpPr>
        <p:spPr>
          <a:xfrm>
            <a:off x="2487168" y="2176272"/>
            <a:ext cx="2670048" cy="566928"/>
          </a:xfrm>
          <a:prstGeom prst="rect">
            <a:avLst/>
          </a:prstGeom>
          <a:noFill/>
        </p:spPr>
        <p:txBody>
          <a:bodyPr wrap="square" anchor="t">
            <a:spAutoFit/>
          </a:bodyPr>
          <a:lstStyle/>
          <a:p>
            <a:pPr algn="l"/>
            <a:r>
              <a:rPr sz="1250" b="1">
                <a:solidFill>
                  <a:srgbClr val="1C242A"/>
                </a:solidFill>
                <a:latin typeface="Aptos"/>
              </a:rPr>
              <a:t>Hiệu trưởng: Phạm Quốc Quỳnh</a:t>
            </a:r>
          </a:p>
        </p:txBody>
      </p:sp>
      <p:sp>
        <p:nvSpPr>
          <p:cNvPr id="12" name="Rounded Rectangle 11"/>
          <p:cNvSpPr/>
          <p:nvPr/>
        </p:nvSpPr>
        <p:spPr>
          <a:xfrm>
            <a:off x="685800" y="3172968"/>
            <a:ext cx="4800600" cy="96012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96112" y="3337560"/>
            <a:ext cx="1417320" cy="292608"/>
          </a:xfrm>
          <a:prstGeom prst="roundRect">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3355848"/>
            <a:ext cx="1417320" cy="274320"/>
          </a:xfrm>
          <a:prstGeom prst="rect">
            <a:avLst/>
          </a:prstGeom>
          <a:noFill/>
        </p:spPr>
        <p:txBody>
          <a:bodyPr wrap="square" anchor="ctr">
            <a:spAutoFit/>
          </a:bodyPr>
          <a:lstStyle/>
          <a:p>
            <a:pPr algn="ctr"/>
            <a:r>
              <a:rPr sz="919" b="1">
                <a:solidFill>
                  <a:srgbClr val="13304A"/>
                </a:solidFill>
                <a:latin typeface="Aptos"/>
              </a:rPr>
              <a:t>Giáo viên bộ môn</a:t>
            </a:r>
          </a:p>
        </p:txBody>
      </p:sp>
      <p:sp>
        <p:nvSpPr>
          <p:cNvPr id="15" name="TextBox 14"/>
          <p:cNvSpPr txBox="1"/>
          <p:nvPr/>
        </p:nvSpPr>
        <p:spPr>
          <a:xfrm>
            <a:off x="2487168" y="3337560"/>
            <a:ext cx="2670048" cy="566928"/>
          </a:xfrm>
          <a:prstGeom prst="rect">
            <a:avLst/>
          </a:prstGeom>
          <a:noFill/>
        </p:spPr>
        <p:txBody>
          <a:bodyPr wrap="square" anchor="t">
            <a:spAutoFit/>
          </a:bodyPr>
          <a:lstStyle/>
          <a:p>
            <a:pPr algn="l"/>
            <a:r>
              <a:rPr sz="1250" b="0">
                <a:solidFill>
                  <a:srgbClr val="1C242A"/>
                </a:solidFill>
                <a:latin typeface="Aptos"/>
              </a:rPr>
              <a:t>Phụ trách các môn học trong chương trình THPT</a:t>
            </a:r>
          </a:p>
        </p:txBody>
      </p:sp>
      <p:sp>
        <p:nvSpPr>
          <p:cNvPr id="16" name="Rounded Rectangle 15"/>
          <p:cNvSpPr/>
          <p:nvPr/>
        </p:nvSpPr>
        <p:spPr>
          <a:xfrm>
            <a:off x="685800" y="4334256"/>
            <a:ext cx="4800600" cy="96012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6112" y="4498848"/>
            <a:ext cx="1417320" cy="292608"/>
          </a:xfrm>
          <a:prstGeom prst="roundRect">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4517136"/>
            <a:ext cx="1417320" cy="274320"/>
          </a:xfrm>
          <a:prstGeom prst="rect">
            <a:avLst/>
          </a:prstGeom>
          <a:noFill/>
        </p:spPr>
        <p:txBody>
          <a:bodyPr wrap="square" anchor="ctr">
            <a:spAutoFit/>
          </a:bodyPr>
          <a:lstStyle/>
          <a:p>
            <a:pPr algn="ctr"/>
            <a:r>
              <a:rPr sz="919" b="1">
                <a:solidFill>
                  <a:srgbClr val="13304A"/>
                </a:solidFill>
                <a:latin typeface="Aptos"/>
              </a:rPr>
              <a:t>Nhân viên</a:t>
            </a:r>
          </a:p>
        </p:txBody>
      </p:sp>
      <p:sp>
        <p:nvSpPr>
          <p:cNvPr id="19" name="TextBox 18"/>
          <p:cNvSpPr txBox="1"/>
          <p:nvPr/>
        </p:nvSpPr>
        <p:spPr>
          <a:xfrm>
            <a:off x="2487168" y="4498848"/>
            <a:ext cx="2670048" cy="566928"/>
          </a:xfrm>
          <a:prstGeom prst="rect">
            <a:avLst/>
          </a:prstGeom>
          <a:noFill/>
        </p:spPr>
        <p:txBody>
          <a:bodyPr wrap="square" anchor="t">
            <a:spAutoFit/>
          </a:bodyPr>
          <a:lstStyle/>
          <a:p>
            <a:pPr algn="l"/>
            <a:r>
              <a:rPr sz="1250" b="0">
                <a:solidFill>
                  <a:srgbClr val="1C242A"/>
                </a:solidFill>
                <a:latin typeface="Aptos"/>
              </a:rPr>
              <a:t>Các bộ phận phục vụ hoạt động dạy học và quản lý nhà trường</a:t>
            </a:r>
          </a:p>
        </p:txBody>
      </p:sp>
      <p:sp>
        <p:nvSpPr>
          <p:cNvPr id="20" name="Rounded Rectangle 19"/>
          <p:cNvSpPr/>
          <p:nvPr/>
        </p:nvSpPr>
        <p:spPr>
          <a:xfrm>
            <a:off x="5852160" y="1481328"/>
            <a:ext cx="5742432" cy="452628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1792224"/>
            <a:ext cx="4480560" cy="347472"/>
          </a:xfrm>
          <a:prstGeom prst="rect">
            <a:avLst/>
          </a:prstGeom>
          <a:noFill/>
        </p:spPr>
        <p:txBody>
          <a:bodyPr wrap="square" anchor="t">
            <a:spAutoFit/>
          </a:bodyPr>
          <a:lstStyle/>
          <a:p>
            <a:pPr algn="l"/>
            <a:r>
              <a:rPr sz="1800" b="1">
                <a:solidFill>
                  <a:srgbClr val="13304A"/>
                </a:solidFill>
                <a:latin typeface="Aptos Display"/>
              </a:rPr>
              <a:t>Nguồn công khai của trường</a:t>
            </a:r>
          </a:p>
        </p:txBody>
      </p:sp>
      <p:cxnSp>
        <p:nvCxnSpPr>
          <p:cNvPr id="22" name="Connector 21"/>
          <p:cNvCxnSpPr/>
          <p:nvPr/>
        </p:nvCxnSpPr>
        <p:spPr>
          <a:xfrm>
            <a:off x="6172200" y="2249424"/>
            <a:ext cx="5001768" cy="0"/>
          </a:xfrm>
          <a:prstGeom prst="line">
            <a:avLst/>
          </a:prstGeom>
          <a:ln w="11430">
            <a:solidFill>
              <a:srgbClr val="D8DFD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72200" y="2542032"/>
            <a:ext cx="4480560" cy="365760"/>
          </a:xfrm>
          <a:prstGeom prst="rect">
            <a:avLst/>
          </a:prstGeom>
          <a:noFill/>
        </p:spPr>
        <p:txBody>
          <a:bodyPr wrap="square" anchor="t">
            <a:spAutoFit/>
          </a:bodyPr>
          <a:lstStyle/>
          <a:p>
            <a:pPr algn="l"/>
            <a:r>
              <a:rPr sz="1500" b="1">
                <a:solidFill>
                  <a:srgbClr val="295E4A"/>
                </a:solidFill>
                <a:latin typeface="Aptos"/>
              </a:rPr>
              <a:t>Báo cáo thường niên năm 2026</a:t>
            </a:r>
          </a:p>
        </p:txBody>
      </p:sp>
      <p:sp>
        <p:nvSpPr>
          <p:cNvPr id="24" name="TextBox 23"/>
          <p:cNvSpPr txBox="1"/>
          <p:nvPr/>
        </p:nvSpPr>
        <p:spPr>
          <a:xfrm>
            <a:off x="6172200" y="2971800"/>
            <a:ext cx="4800600" cy="804672"/>
          </a:xfrm>
          <a:prstGeom prst="rect">
            <a:avLst/>
          </a:prstGeom>
          <a:noFill/>
        </p:spPr>
        <p:txBody>
          <a:bodyPr wrap="square" anchor="t">
            <a:spAutoFit/>
          </a:bodyPr>
          <a:lstStyle/>
          <a:p>
            <a:pPr algn="l"/>
            <a:r>
              <a:rPr sz="1250" b="0">
                <a:solidFill>
                  <a:srgbClr val="1C242A"/>
                </a:solidFill>
                <a:latin typeface="Aptos"/>
              </a:rPr>
              <a:t>Nhà trường có đăng tài liệu “Công khai thông tin đội ngũ theo Thông tư 09” trên cổng thông tin điện tử.</a:t>
            </a:r>
          </a:p>
        </p:txBody>
      </p:sp>
      <p:sp>
        <p:nvSpPr>
          <p:cNvPr id="25" name="TextBox 24"/>
          <p:cNvSpPr txBox="1"/>
          <p:nvPr/>
        </p:nvSpPr>
        <p:spPr>
          <a:xfrm>
            <a:off x="6172200" y="3986784"/>
            <a:ext cx="4480560" cy="320040"/>
          </a:xfrm>
          <a:prstGeom prst="rect">
            <a:avLst/>
          </a:prstGeom>
          <a:noFill/>
        </p:spPr>
        <p:txBody>
          <a:bodyPr wrap="square" anchor="t">
            <a:spAutoFit/>
          </a:bodyPr>
          <a:lstStyle/>
          <a:p>
            <a:pPr algn="l"/>
            <a:r>
              <a:rPr sz="1500" b="1">
                <a:solidFill>
                  <a:srgbClr val="13304A"/>
                </a:solidFill>
                <a:latin typeface="Aptos"/>
              </a:rPr>
              <a:t>Lưu ý khi trình bày</a:t>
            </a:r>
          </a:p>
        </p:txBody>
      </p:sp>
      <p:sp>
        <p:nvSpPr>
          <p:cNvPr id="26" name="TextBox 25"/>
          <p:cNvSpPr txBox="1"/>
          <p:nvPr/>
        </p:nvSpPr>
        <p:spPr>
          <a:xfrm>
            <a:off x="6172200" y="4370832"/>
            <a:ext cx="4754880" cy="1225296"/>
          </a:xfrm>
          <a:prstGeom prst="rect">
            <a:avLst/>
          </a:prstGeom>
          <a:noFill/>
        </p:spPr>
        <p:txBody>
          <a:bodyPr wrap="square">
            <a:spAutoFit/>
          </a:bodyPr>
          <a:lstStyle/>
          <a:p>
            <a:pPr>
              <a:spcAft>
                <a:spcPts val="792"/>
              </a:spcAft>
              <a:defRPr sz="1150">
                <a:solidFill>
                  <a:srgbClr val="1C242A"/>
                </a:solidFill>
                <a:latin typeface="Aptos"/>
              </a:defRPr>
            </a:pPr>
            <a:r>
              <a:t>▪ Ưu tiên số liệu từ báo cáo 2026 của trường.</a:t>
            </a:r>
          </a:p>
          <a:p>
            <a:pPr>
              <a:spcAft>
                <a:spcPts val="792"/>
              </a:spcAft>
              <a:defRPr sz="1150">
                <a:solidFill>
                  <a:srgbClr val="1C242A"/>
                </a:solidFill>
                <a:latin typeface="Aptos"/>
              </a:defRPr>
            </a:pPr>
            <a:r>
              <a:t>▪ Không lấy số lượng giáo viên của năm 2023 để ghi là số liệu 2026.</a:t>
            </a:r>
          </a:p>
          <a:p>
            <a:pPr>
              <a:spcAft>
                <a:spcPts val="792"/>
              </a:spcAft>
              <a:defRPr sz="1150">
                <a:solidFill>
                  <a:srgbClr val="1C242A"/>
                </a:solidFill>
                <a:latin typeface="Aptos"/>
              </a:defRPr>
            </a:pPr>
            <a:r>
              <a:t>▪ Khi cần danh sách chi tiết từng giáo viên, xem tài liệu công khai của nhà trường.</a:t>
            </a:r>
          </a:p>
        </p:txBody>
      </p:sp>
      <p:cxnSp>
        <p:nvCxnSpPr>
          <p:cNvPr id="27" name="Connector 26"/>
          <p:cNvCxnSpPr/>
          <p:nvPr/>
        </p:nvCxnSpPr>
        <p:spPr>
          <a:xfrm>
            <a:off x="594360" y="6473952"/>
            <a:ext cx="11000232"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21792" y="6519672"/>
            <a:ext cx="10149840" cy="164592"/>
          </a:xfrm>
          <a:prstGeom prst="rect">
            <a:avLst/>
          </a:prstGeom>
          <a:noFill/>
        </p:spPr>
        <p:txBody>
          <a:bodyPr wrap="square" anchor="t">
            <a:spAutoFit/>
          </a:bodyPr>
          <a:lstStyle/>
          <a:p>
            <a:pPr algn="l"/>
            <a:r>
              <a:rPr sz="780" b="0">
                <a:solidFill>
                  <a:srgbClr val="5C6972"/>
                </a:solidFill>
                <a:latin typeface="Aptos"/>
              </a:rPr>
              <a:t>Nguồn: thptductrong.edu.vn – “Công khai thông tin đội ngũ theo Thông tư 09 năm 2025”; “Thông tin chung năm 2026”.</a:t>
            </a:r>
          </a:p>
        </p:txBody>
      </p:sp>
      <p:sp>
        <p:nvSpPr>
          <p:cNvPr id="29" name="TextBox 28"/>
          <p:cNvSpPr txBox="1"/>
          <p:nvPr/>
        </p:nvSpPr>
        <p:spPr>
          <a:xfrm>
            <a:off x="11064240" y="6492240"/>
            <a:ext cx="502920" cy="201168"/>
          </a:xfrm>
          <a:prstGeom prst="rect">
            <a:avLst/>
          </a:prstGeom>
          <a:noFill/>
        </p:spPr>
        <p:txBody>
          <a:bodyPr wrap="square" anchor="t">
            <a:spAutoFit/>
          </a:bodyPr>
          <a:lstStyle/>
          <a:p>
            <a:pPr algn="r"/>
            <a:r>
              <a:rPr sz="800" b="1">
                <a:solidFill>
                  <a:srgbClr val="5C6972"/>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875520" cy="502920"/>
          </a:xfrm>
          <a:prstGeom prst="rect">
            <a:avLst/>
          </a:prstGeom>
          <a:noFill/>
        </p:spPr>
        <p:txBody>
          <a:bodyPr wrap="square" anchor="t">
            <a:spAutoFit/>
          </a:bodyPr>
          <a:lstStyle/>
          <a:p>
            <a:pPr algn="l"/>
            <a:r>
              <a:rPr sz="2700" b="1">
                <a:solidFill>
                  <a:srgbClr val="13304A"/>
                </a:solidFill>
                <a:latin typeface="Aptos Display"/>
              </a:rPr>
              <a:t>4. Cơ sở vật chất</a:t>
            </a:r>
          </a:p>
        </p:txBody>
      </p:sp>
      <p:cxnSp>
        <p:nvCxnSpPr>
          <p:cNvPr id="4" name="Connector 3"/>
          <p:cNvCxnSpPr/>
          <p:nvPr/>
        </p:nvCxnSpPr>
        <p:spPr>
          <a:xfrm>
            <a:off x="594360" y="987552"/>
            <a:ext cx="11000232" cy="0"/>
          </a:xfrm>
          <a:prstGeom prst="line">
            <a:avLst/>
          </a:prstGeom>
          <a:ln w="2159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2648" y="1078992"/>
            <a:ext cx="10698480" cy="411480"/>
          </a:xfrm>
          <a:prstGeom prst="rect">
            <a:avLst/>
          </a:prstGeom>
          <a:noFill/>
        </p:spPr>
        <p:txBody>
          <a:bodyPr wrap="square" anchor="t">
            <a:spAutoFit/>
          </a:bodyPr>
          <a:lstStyle/>
          <a:p>
            <a:pPr algn="l"/>
            <a:r>
              <a:rPr sz="1200" b="0">
                <a:solidFill>
                  <a:srgbClr val="5C6972"/>
                </a:solidFill>
                <a:latin typeface="Aptos"/>
              </a:rPr>
              <a:t>Giới thiệu theo tài liệu công khai của trường và các mốc phát triển đã được công bố.</a:t>
            </a:r>
          </a:p>
        </p:txBody>
      </p:sp>
      <p:sp>
        <p:nvSpPr>
          <p:cNvPr id="6" name="TextBox 5"/>
          <p:cNvSpPr txBox="1"/>
          <p:nvPr/>
        </p:nvSpPr>
        <p:spPr>
          <a:xfrm>
            <a:off x="10972800" y="411480"/>
            <a:ext cx="548640" cy="320040"/>
          </a:xfrm>
          <a:prstGeom prst="rect">
            <a:avLst/>
          </a:prstGeom>
          <a:noFill/>
        </p:spPr>
        <p:txBody>
          <a:bodyPr wrap="square" anchor="t">
            <a:spAutoFit/>
          </a:bodyPr>
          <a:lstStyle/>
          <a:p>
            <a:pPr algn="r"/>
            <a:r>
              <a:rPr sz="1100" b="1">
                <a:solidFill>
                  <a:srgbClr val="5C6972"/>
                </a:solidFill>
                <a:latin typeface="Aptos"/>
              </a:rPr>
              <a:t>05</a:t>
            </a:r>
          </a:p>
        </p:txBody>
      </p:sp>
      <p:sp>
        <p:nvSpPr>
          <p:cNvPr id="7" name="Rounded Rectangle 6"/>
          <p:cNvSpPr/>
          <p:nvPr/>
        </p:nvSpPr>
        <p:spPr>
          <a:xfrm>
            <a:off x="640080" y="1554480"/>
            <a:ext cx="3063240" cy="155448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41247" y="1737360"/>
            <a:ext cx="1417320" cy="310896"/>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755648"/>
            <a:ext cx="1417320" cy="292608"/>
          </a:xfrm>
          <a:prstGeom prst="rect">
            <a:avLst/>
          </a:prstGeom>
          <a:noFill/>
        </p:spPr>
        <p:txBody>
          <a:bodyPr wrap="square" anchor="ctr">
            <a:spAutoFit/>
          </a:bodyPr>
          <a:lstStyle/>
          <a:p>
            <a:pPr algn="ctr"/>
            <a:r>
              <a:rPr sz="919" b="1">
                <a:solidFill>
                  <a:srgbClr val="295E4A"/>
                </a:solidFill>
                <a:latin typeface="Aptos"/>
              </a:rPr>
              <a:t>Phòng học</a:t>
            </a:r>
          </a:p>
        </p:txBody>
      </p:sp>
      <p:sp>
        <p:nvSpPr>
          <p:cNvPr id="10" name="TextBox 9"/>
          <p:cNvSpPr txBox="1"/>
          <p:nvPr/>
        </p:nvSpPr>
        <p:spPr>
          <a:xfrm>
            <a:off x="841247" y="2240280"/>
            <a:ext cx="2633472" cy="566928"/>
          </a:xfrm>
          <a:prstGeom prst="rect">
            <a:avLst/>
          </a:prstGeom>
          <a:noFill/>
        </p:spPr>
        <p:txBody>
          <a:bodyPr wrap="square" anchor="t">
            <a:spAutoFit/>
          </a:bodyPr>
          <a:lstStyle/>
          <a:p>
            <a:pPr algn="l"/>
            <a:r>
              <a:rPr sz="1230" b="1">
                <a:solidFill>
                  <a:srgbClr val="1C242A"/>
                </a:solidFill>
                <a:latin typeface="Aptos"/>
              </a:rPr>
              <a:t>Không gian phục vụ dạy học chính khóa</a:t>
            </a:r>
          </a:p>
        </p:txBody>
      </p:sp>
      <p:sp>
        <p:nvSpPr>
          <p:cNvPr id="11" name="Rounded Rectangle 10"/>
          <p:cNvSpPr/>
          <p:nvPr/>
        </p:nvSpPr>
        <p:spPr>
          <a:xfrm>
            <a:off x="4114800" y="1554480"/>
            <a:ext cx="3063240" cy="155448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15968" y="1737360"/>
            <a:ext cx="1417320" cy="310896"/>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15968" y="1755648"/>
            <a:ext cx="1417320" cy="292608"/>
          </a:xfrm>
          <a:prstGeom prst="rect">
            <a:avLst/>
          </a:prstGeom>
          <a:noFill/>
        </p:spPr>
        <p:txBody>
          <a:bodyPr wrap="square" anchor="ctr">
            <a:spAutoFit/>
          </a:bodyPr>
          <a:lstStyle/>
          <a:p>
            <a:pPr algn="ctr"/>
            <a:r>
              <a:rPr sz="919" b="1">
                <a:solidFill>
                  <a:srgbClr val="295E4A"/>
                </a:solidFill>
                <a:latin typeface="Aptos"/>
              </a:rPr>
              <a:t>Phòng bộ môn</a:t>
            </a:r>
          </a:p>
        </p:txBody>
      </p:sp>
      <p:sp>
        <p:nvSpPr>
          <p:cNvPr id="14" name="TextBox 13"/>
          <p:cNvSpPr txBox="1"/>
          <p:nvPr/>
        </p:nvSpPr>
        <p:spPr>
          <a:xfrm>
            <a:off x="4315968" y="2240280"/>
            <a:ext cx="2633472" cy="566928"/>
          </a:xfrm>
          <a:prstGeom prst="rect">
            <a:avLst/>
          </a:prstGeom>
          <a:noFill/>
        </p:spPr>
        <p:txBody>
          <a:bodyPr wrap="square" anchor="t">
            <a:spAutoFit/>
          </a:bodyPr>
          <a:lstStyle/>
          <a:p>
            <a:pPr algn="l"/>
            <a:r>
              <a:rPr sz="1230" b="1">
                <a:solidFill>
                  <a:srgbClr val="1C242A"/>
                </a:solidFill>
                <a:latin typeface="Aptos"/>
              </a:rPr>
              <a:t>Hóa học • Sinh học/Công nghệ • Vật lí • Ngoại ngữ</a:t>
            </a:r>
          </a:p>
        </p:txBody>
      </p:sp>
      <p:sp>
        <p:nvSpPr>
          <p:cNvPr id="15" name="Rounded Rectangle 14"/>
          <p:cNvSpPr/>
          <p:nvPr/>
        </p:nvSpPr>
        <p:spPr>
          <a:xfrm>
            <a:off x="7589520" y="1554480"/>
            <a:ext cx="3063240" cy="155448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90688" y="1737360"/>
            <a:ext cx="1417320" cy="310896"/>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90688" y="1755648"/>
            <a:ext cx="1417320" cy="292608"/>
          </a:xfrm>
          <a:prstGeom prst="rect">
            <a:avLst/>
          </a:prstGeom>
          <a:noFill/>
        </p:spPr>
        <p:txBody>
          <a:bodyPr wrap="square" anchor="ctr">
            <a:spAutoFit/>
          </a:bodyPr>
          <a:lstStyle/>
          <a:p>
            <a:pPr algn="ctr"/>
            <a:r>
              <a:rPr sz="919" b="1">
                <a:solidFill>
                  <a:srgbClr val="295E4A"/>
                </a:solidFill>
                <a:latin typeface="Aptos"/>
              </a:rPr>
              <a:t>Phòng máy tính</a:t>
            </a:r>
          </a:p>
        </p:txBody>
      </p:sp>
      <p:sp>
        <p:nvSpPr>
          <p:cNvPr id="18" name="TextBox 17"/>
          <p:cNvSpPr txBox="1"/>
          <p:nvPr/>
        </p:nvSpPr>
        <p:spPr>
          <a:xfrm>
            <a:off x="7790688" y="2240280"/>
            <a:ext cx="2633472" cy="566928"/>
          </a:xfrm>
          <a:prstGeom prst="rect">
            <a:avLst/>
          </a:prstGeom>
          <a:noFill/>
        </p:spPr>
        <p:txBody>
          <a:bodyPr wrap="square" anchor="t">
            <a:spAutoFit/>
          </a:bodyPr>
          <a:lstStyle/>
          <a:p>
            <a:pPr algn="l"/>
            <a:r>
              <a:rPr sz="1230" b="1">
                <a:solidFill>
                  <a:srgbClr val="1C242A"/>
                </a:solidFill>
                <a:latin typeface="Aptos"/>
              </a:rPr>
              <a:t>Hỗ trợ Tin học và các hoạt động học tập số</a:t>
            </a:r>
          </a:p>
        </p:txBody>
      </p:sp>
      <p:sp>
        <p:nvSpPr>
          <p:cNvPr id="19" name="Rounded Rectangle 18"/>
          <p:cNvSpPr/>
          <p:nvPr/>
        </p:nvSpPr>
        <p:spPr>
          <a:xfrm>
            <a:off x="2377440" y="3675887"/>
            <a:ext cx="3063240" cy="155448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578608" y="3858768"/>
            <a:ext cx="1417320" cy="310896"/>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78608" y="3877055"/>
            <a:ext cx="1417320" cy="292608"/>
          </a:xfrm>
          <a:prstGeom prst="rect">
            <a:avLst/>
          </a:prstGeom>
          <a:noFill/>
        </p:spPr>
        <p:txBody>
          <a:bodyPr wrap="square" anchor="ctr">
            <a:spAutoFit/>
          </a:bodyPr>
          <a:lstStyle/>
          <a:p>
            <a:pPr algn="ctr"/>
            <a:r>
              <a:rPr sz="919" b="1">
                <a:solidFill>
                  <a:srgbClr val="295E4A"/>
                </a:solidFill>
                <a:latin typeface="Aptos"/>
              </a:rPr>
              <a:t>Thư viện &amp; khu hành chính</a:t>
            </a:r>
          </a:p>
        </p:txBody>
      </p:sp>
      <p:sp>
        <p:nvSpPr>
          <p:cNvPr id="22" name="TextBox 21"/>
          <p:cNvSpPr txBox="1"/>
          <p:nvPr/>
        </p:nvSpPr>
        <p:spPr>
          <a:xfrm>
            <a:off x="2578608" y="4361688"/>
            <a:ext cx="2633472" cy="566928"/>
          </a:xfrm>
          <a:prstGeom prst="rect">
            <a:avLst/>
          </a:prstGeom>
          <a:noFill/>
        </p:spPr>
        <p:txBody>
          <a:bodyPr wrap="square" anchor="t">
            <a:spAutoFit/>
          </a:bodyPr>
          <a:lstStyle/>
          <a:p>
            <a:pPr algn="l"/>
            <a:r>
              <a:rPr sz="1230" b="1">
                <a:solidFill>
                  <a:srgbClr val="1C242A"/>
                </a:solidFill>
                <a:latin typeface="Aptos"/>
              </a:rPr>
              <a:t>Phục vụ học tập, quản lý và hoạt động nhà trường</a:t>
            </a:r>
          </a:p>
        </p:txBody>
      </p:sp>
      <p:sp>
        <p:nvSpPr>
          <p:cNvPr id="23" name="Rounded Rectangle 22"/>
          <p:cNvSpPr/>
          <p:nvPr/>
        </p:nvSpPr>
        <p:spPr>
          <a:xfrm>
            <a:off x="5852160" y="3675887"/>
            <a:ext cx="3063240" cy="155448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053328" y="3858768"/>
            <a:ext cx="1417320" cy="310896"/>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3877055"/>
            <a:ext cx="1417320" cy="292608"/>
          </a:xfrm>
          <a:prstGeom prst="rect">
            <a:avLst/>
          </a:prstGeom>
          <a:noFill/>
        </p:spPr>
        <p:txBody>
          <a:bodyPr wrap="square" anchor="ctr">
            <a:spAutoFit/>
          </a:bodyPr>
          <a:lstStyle/>
          <a:p>
            <a:pPr algn="ctr"/>
            <a:r>
              <a:rPr sz="919" b="1">
                <a:solidFill>
                  <a:srgbClr val="295E4A"/>
                </a:solidFill>
                <a:latin typeface="Aptos"/>
              </a:rPr>
              <a:t>Sân bãi &amp; khuôn viên</a:t>
            </a:r>
          </a:p>
        </p:txBody>
      </p:sp>
      <p:sp>
        <p:nvSpPr>
          <p:cNvPr id="26" name="TextBox 25"/>
          <p:cNvSpPr txBox="1"/>
          <p:nvPr/>
        </p:nvSpPr>
        <p:spPr>
          <a:xfrm>
            <a:off x="6053328" y="4361688"/>
            <a:ext cx="2633472" cy="566928"/>
          </a:xfrm>
          <a:prstGeom prst="rect">
            <a:avLst/>
          </a:prstGeom>
          <a:noFill/>
        </p:spPr>
        <p:txBody>
          <a:bodyPr wrap="square" anchor="t">
            <a:spAutoFit/>
          </a:bodyPr>
          <a:lstStyle/>
          <a:p>
            <a:pPr algn="l"/>
            <a:r>
              <a:rPr sz="1230" b="1">
                <a:solidFill>
                  <a:srgbClr val="1C242A"/>
                </a:solidFill>
                <a:latin typeface="Aptos"/>
              </a:rPr>
              <a:t>Không gian hoạt động tập thể và giáo dục thể chất</a:t>
            </a:r>
          </a:p>
        </p:txBody>
      </p:sp>
      <p:sp>
        <p:nvSpPr>
          <p:cNvPr id="27" name="TextBox 26"/>
          <p:cNvSpPr txBox="1"/>
          <p:nvPr/>
        </p:nvSpPr>
        <p:spPr>
          <a:xfrm>
            <a:off x="8339327" y="3822191"/>
            <a:ext cx="2606040" cy="274320"/>
          </a:xfrm>
          <a:prstGeom prst="rect">
            <a:avLst/>
          </a:prstGeom>
          <a:noFill/>
        </p:spPr>
        <p:txBody>
          <a:bodyPr wrap="square" anchor="t">
            <a:spAutoFit/>
          </a:bodyPr>
          <a:lstStyle/>
          <a:p>
            <a:pPr algn="l"/>
            <a:r>
              <a:rPr sz="1200" b="1">
                <a:solidFill>
                  <a:srgbClr val="913939"/>
                </a:solidFill>
                <a:latin typeface="Aptos"/>
              </a:rPr>
              <a:t>Lưu ý về tính chính xác</a:t>
            </a:r>
          </a:p>
        </p:txBody>
      </p:sp>
      <p:sp>
        <p:nvSpPr>
          <p:cNvPr id="28" name="TextBox 27"/>
          <p:cNvSpPr txBox="1"/>
          <p:nvPr/>
        </p:nvSpPr>
        <p:spPr>
          <a:xfrm>
            <a:off x="8339327" y="4178808"/>
            <a:ext cx="2377440" cy="786384"/>
          </a:xfrm>
          <a:prstGeom prst="rect">
            <a:avLst/>
          </a:prstGeom>
          <a:noFill/>
        </p:spPr>
        <p:txBody>
          <a:bodyPr wrap="square" anchor="t">
            <a:spAutoFit/>
          </a:bodyPr>
          <a:lstStyle/>
          <a:p>
            <a:pPr algn="l"/>
            <a:r>
              <a:rPr sz="1050" b="0">
                <a:solidFill>
                  <a:srgbClr val="5C6972"/>
                </a:solidFill>
                <a:latin typeface="Aptos"/>
              </a:rPr>
              <a:t>Nhà trường đã công khai báo cáo CSVC năm 2026; slide chỉ nêu các nhóm hạng mục, không tự suy đoán số lượng phòng hiện tại.</a:t>
            </a:r>
          </a:p>
        </p:txBody>
      </p:sp>
      <p:cxnSp>
        <p:nvCxnSpPr>
          <p:cNvPr id="29" name="Connector 28"/>
          <p:cNvCxnSpPr/>
          <p:nvPr/>
        </p:nvCxnSpPr>
        <p:spPr>
          <a:xfrm>
            <a:off x="594360" y="6473952"/>
            <a:ext cx="11000232"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21792" y="6519672"/>
            <a:ext cx="10149840" cy="164592"/>
          </a:xfrm>
          <a:prstGeom prst="rect">
            <a:avLst/>
          </a:prstGeom>
          <a:noFill/>
        </p:spPr>
        <p:txBody>
          <a:bodyPr wrap="square" anchor="t">
            <a:spAutoFit/>
          </a:bodyPr>
          <a:lstStyle/>
          <a:p>
            <a:pPr algn="l"/>
            <a:r>
              <a:rPr sz="780" b="0">
                <a:solidFill>
                  <a:srgbClr val="5C6972"/>
                </a:solidFill>
                <a:latin typeface="Aptos"/>
              </a:rPr>
              <a:t>Nguồn: thptductrong.edu.vn – “Công khai CSVC theo Thông tư 09 năm học 2025–2026”; “Lịch sử Trường THPT Đức Trọng”.</a:t>
            </a:r>
          </a:p>
        </p:txBody>
      </p:sp>
      <p:sp>
        <p:nvSpPr>
          <p:cNvPr id="31" name="TextBox 30"/>
          <p:cNvSpPr txBox="1"/>
          <p:nvPr/>
        </p:nvSpPr>
        <p:spPr>
          <a:xfrm>
            <a:off x="11064240" y="6492240"/>
            <a:ext cx="502920" cy="201168"/>
          </a:xfrm>
          <a:prstGeom prst="rect">
            <a:avLst/>
          </a:prstGeom>
          <a:noFill/>
        </p:spPr>
        <p:txBody>
          <a:bodyPr wrap="square" anchor="t">
            <a:spAutoFit/>
          </a:bodyPr>
          <a:lstStyle/>
          <a:p>
            <a:pPr algn="r"/>
            <a:r>
              <a:rPr sz="800" b="1">
                <a:solidFill>
                  <a:srgbClr val="5C6972"/>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875520" cy="502920"/>
          </a:xfrm>
          <a:prstGeom prst="rect">
            <a:avLst/>
          </a:prstGeom>
          <a:noFill/>
        </p:spPr>
        <p:txBody>
          <a:bodyPr wrap="square" anchor="t">
            <a:spAutoFit/>
          </a:bodyPr>
          <a:lstStyle/>
          <a:p>
            <a:pPr algn="l"/>
            <a:r>
              <a:rPr sz="2700" b="1">
                <a:solidFill>
                  <a:srgbClr val="13304A"/>
                </a:solidFill>
                <a:latin typeface="Aptos Display"/>
              </a:rPr>
              <a:t>5. Tuyển sinh lớp 10 năm học 2026–2027</a:t>
            </a:r>
          </a:p>
        </p:txBody>
      </p:sp>
      <p:cxnSp>
        <p:nvCxnSpPr>
          <p:cNvPr id="4" name="Connector 3"/>
          <p:cNvCxnSpPr/>
          <p:nvPr/>
        </p:nvCxnSpPr>
        <p:spPr>
          <a:xfrm>
            <a:off x="594360" y="987552"/>
            <a:ext cx="11000232" cy="0"/>
          </a:xfrm>
          <a:prstGeom prst="line">
            <a:avLst/>
          </a:prstGeom>
          <a:ln w="2159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2648" y="1078992"/>
            <a:ext cx="10698480" cy="411480"/>
          </a:xfrm>
          <a:prstGeom prst="rect">
            <a:avLst/>
          </a:prstGeom>
          <a:noFill/>
        </p:spPr>
        <p:txBody>
          <a:bodyPr wrap="square" anchor="t">
            <a:spAutoFit/>
          </a:bodyPr>
          <a:lstStyle/>
          <a:p>
            <a:pPr algn="l"/>
            <a:r>
              <a:rPr sz="1200" b="0">
                <a:solidFill>
                  <a:srgbClr val="5C6972"/>
                </a:solidFill>
                <a:latin typeface="Aptos"/>
              </a:rPr>
              <a:t>Tách rõ kế hoạch chung của tỉnh và thông tin thực tế nhà trường công bố sau tuyển sinh.</a:t>
            </a:r>
          </a:p>
        </p:txBody>
      </p:sp>
      <p:sp>
        <p:nvSpPr>
          <p:cNvPr id="6" name="TextBox 5"/>
          <p:cNvSpPr txBox="1"/>
          <p:nvPr/>
        </p:nvSpPr>
        <p:spPr>
          <a:xfrm>
            <a:off x="10972800" y="411480"/>
            <a:ext cx="548640" cy="320040"/>
          </a:xfrm>
          <a:prstGeom prst="rect">
            <a:avLst/>
          </a:prstGeom>
          <a:noFill/>
        </p:spPr>
        <p:txBody>
          <a:bodyPr wrap="square" anchor="t">
            <a:spAutoFit/>
          </a:bodyPr>
          <a:lstStyle/>
          <a:p>
            <a:pPr algn="r"/>
            <a:r>
              <a:rPr sz="1100" b="1">
                <a:solidFill>
                  <a:srgbClr val="5C6972"/>
                </a:solidFill>
                <a:latin typeface="Aptos"/>
              </a:rPr>
              <a:t>06</a:t>
            </a:r>
          </a:p>
        </p:txBody>
      </p:sp>
      <p:sp>
        <p:nvSpPr>
          <p:cNvPr id="7" name="TextBox 6"/>
          <p:cNvSpPr txBox="1"/>
          <p:nvPr/>
        </p:nvSpPr>
        <p:spPr>
          <a:xfrm>
            <a:off x="658368" y="1463040"/>
            <a:ext cx="4114800" cy="320040"/>
          </a:xfrm>
          <a:prstGeom prst="rect">
            <a:avLst/>
          </a:prstGeom>
          <a:noFill/>
        </p:spPr>
        <p:txBody>
          <a:bodyPr wrap="square" anchor="t">
            <a:spAutoFit/>
          </a:bodyPr>
          <a:lstStyle/>
          <a:p>
            <a:pPr algn="l"/>
            <a:r>
              <a:rPr sz="1800" b="1">
                <a:solidFill>
                  <a:srgbClr val="13304A"/>
                </a:solidFill>
                <a:latin typeface="Aptos Display"/>
              </a:rPr>
              <a:t>Mốc tuyển sinh theo kế hoạch tỉnh</a:t>
            </a:r>
          </a:p>
        </p:txBody>
      </p:sp>
      <p:cxnSp>
        <p:nvCxnSpPr>
          <p:cNvPr id="8" name="Connector 7"/>
          <p:cNvCxnSpPr/>
          <p:nvPr/>
        </p:nvCxnSpPr>
        <p:spPr>
          <a:xfrm>
            <a:off x="1097280" y="2880360"/>
            <a:ext cx="9692640" cy="0"/>
          </a:xfrm>
          <a:prstGeom prst="line">
            <a:avLst/>
          </a:prstGeom>
          <a:ln w="35560">
            <a:solidFill>
              <a:srgbClr val="D8DFDC"/>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517904" y="2679192"/>
            <a:ext cx="402336" cy="402336"/>
          </a:xfrm>
          <a:prstGeom prst="ellipse">
            <a:avLst/>
          </a:prstGeom>
          <a:solidFill>
            <a:srgbClr val="BE9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38528"/>
            <a:ext cx="1645920" cy="411480"/>
          </a:xfrm>
          <a:prstGeom prst="rect">
            <a:avLst/>
          </a:prstGeom>
          <a:noFill/>
        </p:spPr>
        <p:txBody>
          <a:bodyPr wrap="square" anchor="t">
            <a:spAutoFit/>
          </a:bodyPr>
          <a:lstStyle/>
          <a:p>
            <a:pPr algn="ctr"/>
            <a:r>
              <a:rPr sz="1400" b="1">
                <a:solidFill>
                  <a:srgbClr val="295E4A"/>
                </a:solidFill>
                <a:latin typeface="Aptos"/>
              </a:rPr>
              <a:t>25–30/5/2026</a:t>
            </a:r>
          </a:p>
        </p:txBody>
      </p:sp>
      <p:sp>
        <p:nvSpPr>
          <p:cNvPr id="11" name="TextBox 10"/>
          <p:cNvSpPr txBox="1"/>
          <p:nvPr/>
        </p:nvSpPr>
        <p:spPr>
          <a:xfrm>
            <a:off x="914400" y="3172968"/>
            <a:ext cx="1828800" cy="658368"/>
          </a:xfrm>
          <a:prstGeom prst="rect">
            <a:avLst/>
          </a:prstGeom>
          <a:noFill/>
        </p:spPr>
        <p:txBody>
          <a:bodyPr wrap="square" anchor="t">
            <a:spAutoFit/>
          </a:bodyPr>
          <a:lstStyle/>
          <a:p>
            <a:pPr algn="ctr"/>
            <a:r>
              <a:rPr sz="1140" b="0">
                <a:solidFill>
                  <a:srgbClr val="1C242A"/>
                </a:solidFill>
                <a:latin typeface="Aptos"/>
              </a:rPr>
              <a:t>Đăng ký tuyển sinh
trực tuyến</a:t>
            </a:r>
          </a:p>
        </p:txBody>
      </p:sp>
      <p:sp>
        <p:nvSpPr>
          <p:cNvPr id="12" name="Oval 11"/>
          <p:cNvSpPr/>
          <p:nvPr/>
        </p:nvSpPr>
        <p:spPr>
          <a:xfrm>
            <a:off x="5266944" y="2679192"/>
            <a:ext cx="402336" cy="402336"/>
          </a:xfrm>
          <a:prstGeom prst="ellipse">
            <a:avLst/>
          </a:prstGeom>
          <a:solidFill>
            <a:srgbClr val="BE9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938528"/>
            <a:ext cx="1645920" cy="411480"/>
          </a:xfrm>
          <a:prstGeom prst="rect">
            <a:avLst/>
          </a:prstGeom>
          <a:noFill/>
        </p:spPr>
        <p:txBody>
          <a:bodyPr wrap="square" anchor="t">
            <a:spAutoFit/>
          </a:bodyPr>
          <a:lstStyle/>
          <a:p>
            <a:pPr algn="ctr"/>
            <a:r>
              <a:rPr sz="1400" b="1">
                <a:solidFill>
                  <a:srgbClr val="295E4A"/>
                </a:solidFill>
                <a:latin typeface="Aptos"/>
              </a:rPr>
              <a:t>15–24/7/2026</a:t>
            </a:r>
          </a:p>
        </p:txBody>
      </p:sp>
      <p:sp>
        <p:nvSpPr>
          <p:cNvPr id="14" name="TextBox 13"/>
          <p:cNvSpPr txBox="1"/>
          <p:nvPr/>
        </p:nvSpPr>
        <p:spPr>
          <a:xfrm>
            <a:off x="4663440" y="3172968"/>
            <a:ext cx="1828800" cy="658368"/>
          </a:xfrm>
          <a:prstGeom prst="rect">
            <a:avLst/>
          </a:prstGeom>
          <a:noFill/>
        </p:spPr>
        <p:txBody>
          <a:bodyPr wrap="square" anchor="t">
            <a:spAutoFit/>
          </a:bodyPr>
          <a:lstStyle/>
          <a:p>
            <a:pPr algn="ctr"/>
            <a:r>
              <a:rPr sz="1140" b="0">
                <a:solidFill>
                  <a:srgbClr val="1C242A"/>
                </a:solidFill>
                <a:latin typeface="Aptos"/>
              </a:rPr>
              <a:t>Tổ chức xét tuyển</a:t>
            </a:r>
          </a:p>
        </p:txBody>
      </p:sp>
      <p:sp>
        <p:nvSpPr>
          <p:cNvPr id="15" name="Oval 14"/>
          <p:cNvSpPr/>
          <p:nvPr/>
        </p:nvSpPr>
        <p:spPr>
          <a:xfrm>
            <a:off x="9061704" y="2679192"/>
            <a:ext cx="402336" cy="402336"/>
          </a:xfrm>
          <a:prstGeom prst="ellipse">
            <a:avLst/>
          </a:prstGeom>
          <a:solidFill>
            <a:srgbClr val="BE96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1938528"/>
            <a:ext cx="1645920" cy="411480"/>
          </a:xfrm>
          <a:prstGeom prst="rect">
            <a:avLst/>
          </a:prstGeom>
          <a:noFill/>
        </p:spPr>
        <p:txBody>
          <a:bodyPr wrap="square" anchor="t">
            <a:spAutoFit/>
          </a:bodyPr>
          <a:lstStyle/>
          <a:p>
            <a:pPr algn="ctr"/>
            <a:r>
              <a:rPr sz="1400" b="1">
                <a:solidFill>
                  <a:srgbClr val="295E4A"/>
                </a:solidFill>
                <a:latin typeface="Aptos"/>
              </a:rPr>
              <a:t>Trước 31/7/2026</a:t>
            </a:r>
          </a:p>
        </p:txBody>
      </p:sp>
      <p:sp>
        <p:nvSpPr>
          <p:cNvPr id="17" name="TextBox 16"/>
          <p:cNvSpPr txBox="1"/>
          <p:nvPr/>
        </p:nvSpPr>
        <p:spPr>
          <a:xfrm>
            <a:off x="8458200" y="3172968"/>
            <a:ext cx="1828800" cy="658368"/>
          </a:xfrm>
          <a:prstGeom prst="rect">
            <a:avLst/>
          </a:prstGeom>
          <a:noFill/>
        </p:spPr>
        <p:txBody>
          <a:bodyPr wrap="square" anchor="t">
            <a:spAutoFit/>
          </a:bodyPr>
          <a:lstStyle/>
          <a:p>
            <a:pPr algn="ctr"/>
            <a:r>
              <a:rPr sz="1140" b="0">
                <a:solidFill>
                  <a:srgbClr val="1C242A"/>
                </a:solidFill>
                <a:latin typeface="Aptos"/>
              </a:rPr>
              <a:t>Hoàn thành tuyển sinh
công lập</a:t>
            </a:r>
          </a:p>
        </p:txBody>
      </p:sp>
      <p:sp>
        <p:nvSpPr>
          <p:cNvPr id="18" name="Rounded Rectangle 17"/>
          <p:cNvSpPr/>
          <p:nvPr/>
        </p:nvSpPr>
        <p:spPr>
          <a:xfrm>
            <a:off x="658368" y="4160520"/>
            <a:ext cx="10899648" cy="1627632"/>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4462272"/>
            <a:ext cx="4297680" cy="329184"/>
          </a:xfrm>
          <a:prstGeom prst="rect">
            <a:avLst/>
          </a:prstGeom>
          <a:noFill/>
        </p:spPr>
        <p:txBody>
          <a:bodyPr wrap="square" anchor="t">
            <a:spAutoFit/>
          </a:bodyPr>
          <a:lstStyle/>
          <a:p>
            <a:pPr algn="l"/>
            <a:r>
              <a:rPr sz="1700" b="1">
                <a:solidFill>
                  <a:srgbClr val="13304A"/>
                </a:solidFill>
                <a:latin typeface="Aptos Display"/>
              </a:rPr>
              <a:t>Thông tin nhà trường sau xét tuyển</a:t>
            </a:r>
          </a:p>
        </p:txBody>
      </p:sp>
      <p:sp>
        <p:nvSpPr>
          <p:cNvPr id="20" name="Rounded Rectangle 19"/>
          <p:cNvSpPr/>
          <p:nvPr/>
        </p:nvSpPr>
        <p:spPr>
          <a:xfrm>
            <a:off x="941832" y="4965192"/>
            <a:ext cx="1417320" cy="384048"/>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4983479"/>
            <a:ext cx="1417320" cy="365759"/>
          </a:xfrm>
          <a:prstGeom prst="rect">
            <a:avLst/>
          </a:prstGeom>
          <a:noFill/>
        </p:spPr>
        <p:txBody>
          <a:bodyPr wrap="square" anchor="ctr">
            <a:spAutoFit/>
          </a:bodyPr>
          <a:lstStyle/>
          <a:p>
            <a:pPr algn="ctr"/>
            <a:r>
              <a:rPr sz="1050" b="1">
                <a:solidFill>
                  <a:srgbClr val="295E4A"/>
                </a:solidFill>
                <a:latin typeface="Aptos"/>
              </a:rPr>
              <a:t>580 học sinh</a:t>
            </a:r>
          </a:p>
        </p:txBody>
      </p:sp>
      <p:sp>
        <p:nvSpPr>
          <p:cNvPr id="22" name="TextBox 21"/>
          <p:cNvSpPr txBox="1"/>
          <p:nvPr/>
        </p:nvSpPr>
        <p:spPr>
          <a:xfrm>
            <a:off x="2542032" y="4983480"/>
            <a:ext cx="2834640" cy="292608"/>
          </a:xfrm>
          <a:prstGeom prst="rect">
            <a:avLst/>
          </a:prstGeom>
          <a:noFill/>
        </p:spPr>
        <p:txBody>
          <a:bodyPr wrap="square" anchor="t">
            <a:spAutoFit/>
          </a:bodyPr>
          <a:lstStyle/>
          <a:p>
            <a:pPr algn="l"/>
            <a:r>
              <a:rPr sz="1120" b="0">
                <a:solidFill>
                  <a:srgbClr val="1C242A"/>
                </a:solidFill>
                <a:latin typeface="Aptos"/>
              </a:rPr>
              <a:t>được phê duyệt trúng tuyển đợt chính</a:t>
            </a:r>
          </a:p>
        </p:txBody>
      </p:sp>
      <p:sp>
        <p:nvSpPr>
          <p:cNvPr id="23" name="Rounded Rectangle 22"/>
          <p:cNvSpPr/>
          <p:nvPr/>
        </p:nvSpPr>
        <p:spPr>
          <a:xfrm>
            <a:off x="5742432" y="4965192"/>
            <a:ext cx="1417320" cy="384048"/>
          </a:xfrm>
          <a:prstGeom prst="roundRect">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42432" y="4983479"/>
            <a:ext cx="1417320" cy="365759"/>
          </a:xfrm>
          <a:prstGeom prst="rect">
            <a:avLst/>
          </a:prstGeom>
          <a:noFill/>
        </p:spPr>
        <p:txBody>
          <a:bodyPr wrap="square" anchor="ctr">
            <a:spAutoFit/>
          </a:bodyPr>
          <a:lstStyle/>
          <a:p>
            <a:pPr algn="ctr"/>
            <a:r>
              <a:rPr sz="1050" b="1">
                <a:solidFill>
                  <a:srgbClr val="13304A"/>
                </a:solidFill>
                <a:latin typeface="Aptos"/>
              </a:rPr>
              <a:t>26 học sinh</a:t>
            </a:r>
          </a:p>
        </p:txBody>
      </p:sp>
      <p:sp>
        <p:nvSpPr>
          <p:cNvPr id="25" name="TextBox 24"/>
          <p:cNvSpPr txBox="1"/>
          <p:nvPr/>
        </p:nvSpPr>
        <p:spPr>
          <a:xfrm>
            <a:off x="7351775" y="4983480"/>
            <a:ext cx="2926080" cy="292608"/>
          </a:xfrm>
          <a:prstGeom prst="rect">
            <a:avLst/>
          </a:prstGeom>
          <a:noFill/>
        </p:spPr>
        <p:txBody>
          <a:bodyPr wrap="square" anchor="t">
            <a:spAutoFit/>
          </a:bodyPr>
          <a:lstStyle/>
          <a:p>
            <a:pPr algn="l"/>
            <a:r>
              <a:rPr sz="1120" b="0">
                <a:solidFill>
                  <a:srgbClr val="1C242A"/>
                </a:solidFill>
                <a:latin typeface="Aptos"/>
              </a:rPr>
              <a:t>được phê duyệt trúng tuyển bổ sung</a:t>
            </a:r>
          </a:p>
        </p:txBody>
      </p:sp>
      <p:cxnSp>
        <p:nvCxnSpPr>
          <p:cNvPr id="26" name="Connector 25"/>
          <p:cNvCxnSpPr/>
          <p:nvPr/>
        </p:nvCxnSpPr>
        <p:spPr>
          <a:xfrm>
            <a:off x="594360" y="6473952"/>
            <a:ext cx="11000232"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21792" y="6519672"/>
            <a:ext cx="10149840" cy="164592"/>
          </a:xfrm>
          <a:prstGeom prst="rect">
            <a:avLst/>
          </a:prstGeom>
          <a:noFill/>
        </p:spPr>
        <p:txBody>
          <a:bodyPr wrap="square" anchor="t">
            <a:spAutoFit/>
          </a:bodyPr>
          <a:lstStyle/>
          <a:p>
            <a:pPr algn="l"/>
            <a:r>
              <a:rPr sz="780" b="0">
                <a:solidFill>
                  <a:srgbClr val="5C6972"/>
                </a:solidFill>
                <a:latin typeface="Aptos"/>
              </a:rPr>
              <a:t>Nguồn: Quyết định 1074/QĐ-UBND ngày 30/3/2026; Cổng thông tin THPT Đức Trọng – kết quả trúng tuyển 6/8 và bổ sung 27/8/2026.</a:t>
            </a:r>
          </a:p>
        </p:txBody>
      </p:sp>
      <p:sp>
        <p:nvSpPr>
          <p:cNvPr id="28" name="TextBox 27"/>
          <p:cNvSpPr txBox="1"/>
          <p:nvPr/>
        </p:nvSpPr>
        <p:spPr>
          <a:xfrm>
            <a:off x="11064240" y="6492240"/>
            <a:ext cx="502920" cy="201168"/>
          </a:xfrm>
          <a:prstGeom prst="rect">
            <a:avLst/>
          </a:prstGeom>
          <a:noFill/>
        </p:spPr>
        <p:txBody>
          <a:bodyPr wrap="square" anchor="t">
            <a:spAutoFit/>
          </a:bodyPr>
          <a:lstStyle/>
          <a:p>
            <a:pPr algn="r"/>
            <a:r>
              <a:rPr sz="800" b="1">
                <a:solidFill>
                  <a:srgbClr val="5C6972"/>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875520" cy="502920"/>
          </a:xfrm>
          <a:prstGeom prst="rect">
            <a:avLst/>
          </a:prstGeom>
          <a:noFill/>
        </p:spPr>
        <p:txBody>
          <a:bodyPr wrap="square" anchor="t">
            <a:spAutoFit/>
          </a:bodyPr>
          <a:lstStyle/>
          <a:p>
            <a:pPr algn="l"/>
            <a:r>
              <a:rPr sz="2700" b="1">
                <a:solidFill>
                  <a:srgbClr val="13304A"/>
                </a:solidFill>
                <a:latin typeface="Aptos Display"/>
              </a:rPr>
              <a:t>6. Mức điểm tuyển sinh được nhà trường thông báo</a:t>
            </a:r>
          </a:p>
        </p:txBody>
      </p:sp>
      <p:cxnSp>
        <p:nvCxnSpPr>
          <p:cNvPr id="4" name="Connector 3"/>
          <p:cNvCxnSpPr/>
          <p:nvPr/>
        </p:nvCxnSpPr>
        <p:spPr>
          <a:xfrm>
            <a:off x="594360" y="987552"/>
            <a:ext cx="11000232" cy="0"/>
          </a:xfrm>
          <a:prstGeom prst="line">
            <a:avLst/>
          </a:prstGeom>
          <a:ln w="2159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2648" y="1078992"/>
            <a:ext cx="10698480" cy="411480"/>
          </a:xfrm>
          <a:prstGeom prst="rect">
            <a:avLst/>
          </a:prstGeom>
          <a:noFill/>
        </p:spPr>
        <p:txBody>
          <a:bodyPr wrap="square" anchor="t">
            <a:spAutoFit/>
          </a:bodyPr>
          <a:lstStyle/>
          <a:p>
            <a:pPr algn="l"/>
            <a:r>
              <a:rPr sz="1200" b="0">
                <a:solidFill>
                  <a:srgbClr val="5C6972"/>
                </a:solidFill>
                <a:latin typeface="Aptos"/>
              </a:rPr>
              <a:t>Phân biệt “mức tạm thời tiếp nhận hồ sơ” với kết quả trúng tuyển chính thức.</a:t>
            </a:r>
          </a:p>
        </p:txBody>
      </p:sp>
      <p:sp>
        <p:nvSpPr>
          <p:cNvPr id="6" name="TextBox 5"/>
          <p:cNvSpPr txBox="1"/>
          <p:nvPr/>
        </p:nvSpPr>
        <p:spPr>
          <a:xfrm>
            <a:off x="10972800" y="411480"/>
            <a:ext cx="548640" cy="320040"/>
          </a:xfrm>
          <a:prstGeom prst="rect">
            <a:avLst/>
          </a:prstGeom>
          <a:noFill/>
        </p:spPr>
        <p:txBody>
          <a:bodyPr wrap="square" anchor="t">
            <a:spAutoFit/>
          </a:bodyPr>
          <a:lstStyle/>
          <a:p>
            <a:pPr algn="r"/>
            <a:r>
              <a:rPr sz="1100" b="1">
                <a:solidFill>
                  <a:srgbClr val="5C6972"/>
                </a:solidFill>
                <a:latin typeface="Aptos"/>
              </a:rPr>
              <a:t>07</a:t>
            </a:r>
          </a:p>
        </p:txBody>
      </p:sp>
      <p:sp>
        <p:nvSpPr>
          <p:cNvPr id="7" name="Rounded Rectangle 6"/>
          <p:cNvSpPr/>
          <p:nvPr/>
        </p:nvSpPr>
        <p:spPr>
          <a:xfrm>
            <a:off x="731520" y="1572768"/>
            <a:ext cx="2103120" cy="160020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37943"/>
            <a:ext cx="2103120" cy="612648"/>
          </a:xfrm>
          <a:prstGeom prst="rect">
            <a:avLst/>
          </a:prstGeom>
          <a:noFill/>
        </p:spPr>
        <p:txBody>
          <a:bodyPr wrap="square" anchor="t">
            <a:spAutoFit/>
          </a:bodyPr>
          <a:lstStyle/>
          <a:p>
            <a:pPr algn="ctr"/>
            <a:r>
              <a:rPr sz="3100" b="1">
                <a:solidFill>
                  <a:srgbClr val="295E4A"/>
                </a:solidFill>
                <a:latin typeface="Aptos Display"/>
              </a:rPr>
              <a:t>34</a:t>
            </a:r>
          </a:p>
        </p:txBody>
      </p:sp>
      <p:sp>
        <p:nvSpPr>
          <p:cNvPr id="9" name="TextBox 8"/>
          <p:cNvSpPr txBox="1"/>
          <p:nvPr/>
        </p:nvSpPr>
        <p:spPr>
          <a:xfrm>
            <a:off x="822960" y="2542032"/>
            <a:ext cx="1920240" cy="310896"/>
          </a:xfrm>
          <a:prstGeom prst="rect">
            <a:avLst/>
          </a:prstGeom>
          <a:noFill/>
        </p:spPr>
        <p:txBody>
          <a:bodyPr wrap="square" anchor="t">
            <a:spAutoFit/>
          </a:bodyPr>
          <a:lstStyle/>
          <a:p>
            <a:pPr algn="ctr"/>
            <a:r>
              <a:rPr sz="1200" b="1">
                <a:solidFill>
                  <a:srgbClr val="13304A"/>
                </a:solidFill>
                <a:latin typeface="Aptos"/>
              </a:rPr>
              <a:t>Điểm tuyển sinh</a:t>
            </a:r>
          </a:p>
        </p:txBody>
      </p:sp>
      <p:sp>
        <p:nvSpPr>
          <p:cNvPr id="10" name="Rounded Rectangle 9"/>
          <p:cNvSpPr/>
          <p:nvPr/>
        </p:nvSpPr>
        <p:spPr>
          <a:xfrm>
            <a:off x="3163824" y="1572768"/>
            <a:ext cx="2103120" cy="160020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63824" y="1837943"/>
            <a:ext cx="2103120" cy="612648"/>
          </a:xfrm>
          <a:prstGeom prst="rect">
            <a:avLst/>
          </a:prstGeom>
          <a:noFill/>
        </p:spPr>
        <p:txBody>
          <a:bodyPr wrap="square" anchor="t">
            <a:spAutoFit/>
          </a:bodyPr>
          <a:lstStyle/>
          <a:p>
            <a:pPr algn="ctr"/>
            <a:r>
              <a:rPr sz="3100" b="1">
                <a:solidFill>
                  <a:srgbClr val="295E4A"/>
                </a:solidFill>
                <a:latin typeface="Aptos Display"/>
              </a:rPr>
              <a:t>7,3</a:t>
            </a:r>
          </a:p>
        </p:txBody>
      </p:sp>
      <p:sp>
        <p:nvSpPr>
          <p:cNvPr id="12" name="TextBox 11"/>
          <p:cNvSpPr txBox="1"/>
          <p:nvPr/>
        </p:nvSpPr>
        <p:spPr>
          <a:xfrm>
            <a:off x="3255264" y="2542032"/>
            <a:ext cx="1920240" cy="310896"/>
          </a:xfrm>
          <a:prstGeom prst="rect">
            <a:avLst/>
          </a:prstGeom>
          <a:noFill/>
        </p:spPr>
        <p:txBody>
          <a:bodyPr wrap="square" anchor="t">
            <a:spAutoFit/>
          </a:bodyPr>
          <a:lstStyle/>
          <a:p>
            <a:pPr algn="ctr"/>
            <a:r>
              <a:rPr sz="1200" b="1">
                <a:solidFill>
                  <a:srgbClr val="13304A"/>
                </a:solidFill>
                <a:latin typeface="Aptos"/>
              </a:rPr>
              <a:t>ĐTB lớp 9</a:t>
            </a:r>
          </a:p>
        </p:txBody>
      </p:sp>
      <p:sp>
        <p:nvSpPr>
          <p:cNvPr id="13" name="Rounded Rectangle 12"/>
          <p:cNvSpPr/>
          <p:nvPr/>
        </p:nvSpPr>
        <p:spPr>
          <a:xfrm>
            <a:off x="5596128" y="1572768"/>
            <a:ext cx="2103120" cy="160020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96128" y="1837943"/>
            <a:ext cx="2103120" cy="612648"/>
          </a:xfrm>
          <a:prstGeom prst="rect">
            <a:avLst/>
          </a:prstGeom>
          <a:noFill/>
        </p:spPr>
        <p:txBody>
          <a:bodyPr wrap="square" anchor="t">
            <a:spAutoFit/>
          </a:bodyPr>
          <a:lstStyle/>
          <a:p>
            <a:pPr algn="ctr"/>
            <a:r>
              <a:rPr sz="3100" b="1">
                <a:solidFill>
                  <a:srgbClr val="295E4A"/>
                </a:solidFill>
                <a:latin typeface="Aptos Display"/>
              </a:rPr>
              <a:t>14,2</a:t>
            </a:r>
          </a:p>
        </p:txBody>
      </p:sp>
      <p:sp>
        <p:nvSpPr>
          <p:cNvPr id="15" name="TextBox 14"/>
          <p:cNvSpPr txBox="1"/>
          <p:nvPr/>
        </p:nvSpPr>
        <p:spPr>
          <a:xfrm>
            <a:off x="5687568" y="2542032"/>
            <a:ext cx="1920240" cy="310896"/>
          </a:xfrm>
          <a:prstGeom prst="rect">
            <a:avLst/>
          </a:prstGeom>
          <a:noFill/>
        </p:spPr>
        <p:txBody>
          <a:bodyPr wrap="square" anchor="t">
            <a:spAutoFit/>
          </a:bodyPr>
          <a:lstStyle/>
          <a:p>
            <a:pPr algn="ctr"/>
            <a:r>
              <a:rPr sz="1200" b="1">
                <a:solidFill>
                  <a:srgbClr val="13304A"/>
                </a:solidFill>
                <a:latin typeface="Aptos"/>
              </a:rPr>
              <a:t>Toán + Văn</a:t>
            </a:r>
          </a:p>
        </p:txBody>
      </p:sp>
      <p:sp>
        <p:nvSpPr>
          <p:cNvPr id="16" name="Rounded Rectangle 15"/>
          <p:cNvSpPr/>
          <p:nvPr/>
        </p:nvSpPr>
        <p:spPr>
          <a:xfrm>
            <a:off x="8229600" y="1572768"/>
            <a:ext cx="3063240" cy="1600200"/>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85632" y="1810512"/>
            <a:ext cx="2514600" cy="274320"/>
          </a:xfrm>
          <a:prstGeom prst="rect">
            <a:avLst/>
          </a:prstGeom>
          <a:noFill/>
        </p:spPr>
        <p:txBody>
          <a:bodyPr wrap="square" anchor="t">
            <a:spAutoFit/>
          </a:bodyPr>
          <a:lstStyle/>
          <a:p>
            <a:pPr algn="ctr"/>
            <a:r>
              <a:rPr sz="1400" b="1">
                <a:solidFill>
                  <a:srgbClr val="913939"/>
                </a:solidFill>
                <a:latin typeface="Aptos"/>
              </a:rPr>
              <a:t>Quan trọng</a:t>
            </a:r>
          </a:p>
        </p:txBody>
      </p:sp>
      <p:sp>
        <p:nvSpPr>
          <p:cNvPr id="18" name="TextBox 17"/>
          <p:cNvSpPr txBox="1"/>
          <p:nvPr/>
        </p:nvSpPr>
        <p:spPr>
          <a:xfrm>
            <a:off x="8485632" y="2194560"/>
            <a:ext cx="2514600" cy="713232"/>
          </a:xfrm>
          <a:prstGeom prst="rect">
            <a:avLst/>
          </a:prstGeom>
          <a:noFill/>
        </p:spPr>
        <p:txBody>
          <a:bodyPr wrap="square" anchor="t">
            <a:spAutoFit/>
          </a:bodyPr>
          <a:lstStyle/>
          <a:p>
            <a:pPr algn="ctr"/>
            <a:r>
              <a:rPr sz="1120" b="0">
                <a:solidFill>
                  <a:srgbClr val="1C242A"/>
                </a:solidFill>
                <a:latin typeface="Aptos"/>
              </a:rPr>
              <a:t>Đây là mức trường tạm thời thu nhận hồ sơ trong thời gian chờ Sở GD&amp;ĐT phê duyệt kết quả.</a:t>
            </a:r>
          </a:p>
        </p:txBody>
      </p:sp>
      <p:sp>
        <p:nvSpPr>
          <p:cNvPr id="19" name="Rounded Rectangle 18"/>
          <p:cNvSpPr/>
          <p:nvPr/>
        </p:nvSpPr>
        <p:spPr>
          <a:xfrm>
            <a:off x="731520" y="3584448"/>
            <a:ext cx="10561320" cy="210312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3858768"/>
            <a:ext cx="3840480" cy="320040"/>
          </a:xfrm>
          <a:prstGeom prst="rect">
            <a:avLst/>
          </a:prstGeom>
          <a:noFill/>
        </p:spPr>
        <p:txBody>
          <a:bodyPr wrap="square" anchor="t">
            <a:spAutoFit/>
          </a:bodyPr>
          <a:lstStyle/>
          <a:p>
            <a:pPr algn="l"/>
            <a:r>
              <a:rPr sz="1700" b="1">
                <a:solidFill>
                  <a:srgbClr val="13304A"/>
                </a:solidFill>
                <a:latin typeface="Aptos Display"/>
              </a:rPr>
              <a:t>Cách trình bày chính xác</a:t>
            </a:r>
          </a:p>
        </p:txBody>
      </p:sp>
      <p:sp>
        <p:nvSpPr>
          <p:cNvPr id="21" name="TextBox 20"/>
          <p:cNvSpPr txBox="1"/>
          <p:nvPr/>
        </p:nvSpPr>
        <p:spPr>
          <a:xfrm>
            <a:off x="1024128" y="4352544"/>
            <a:ext cx="9829800" cy="1097280"/>
          </a:xfrm>
          <a:prstGeom prst="rect">
            <a:avLst/>
          </a:prstGeom>
          <a:noFill/>
        </p:spPr>
        <p:txBody>
          <a:bodyPr wrap="square">
            <a:spAutoFit/>
          </a:bodyPr>
          <a:lstStyle/>
          <a:p>
            <a:pPr>
              <a:spcAft>
                <a:spcPts val="792"/>
              </a:spcAft>
              <a:defRPr sz="1160">
                <a:solidFill>
                  <a:srgbClr val="1C242A"/>
                </a:solidFill>
                <a:latin typeface="Aptos"/>
              </a:defRPr>
            </a:pPr>
            <a:r>
              <a:t>▪ Ngày 05/8/2026, trường thông báo tạm thời nhận hồ sơ của học sinh có điểm tuyển sinh 34; ĐTB lớp 9 là 7,3; Toán + Văn là 14,2.</a:t>
            </a:r>
          </a:p>
          <a:p>
            <a:pPr>
              <a:spcAft>
                <a:spcPts val="792"/>
              </a:spcAft>
              <a:defRPr sz="1160">
                <a:solidFill>
                  <a:srgbClr val="1C242A"/>
                </a:solidFill>
                <a:latin typeface="Aptos"/>
              </a:defRPr>
            </a:pPr>
            <a:r>
              <a:t>▪ Ngày 06/8/2026, kết quả trúng tuyển chính thức được phê duyệt gồm 580 học sinh.</a:t>
            </a:r>
          </a:p>
          <a:p>
            <a:pPr>
              <a:spcAft>
                <a:spcPts val="792"/>
              </a:spcAft>
              <a:defRPr sz="1160">
                <a:solidFill>
                  <a:srgbClr val="1C242A"/>
                </a:solidFill>
                <a:latin typeface="Aptos"/>
              </a:defRPr>
            </a:pPr>
            <a:r>
              <a:t>▪ Ngày 27/8/2026, kết quả trúng tuyển bổ sung được phê duyệt gồm 26 học sinh.</a:t>
            </a:r>
          </a:p>
        </p:txBody>
      </p:sp>
      <p:cxnSp>
        <p:nvCxnSpPr>
          <p:cNvPr id="22" name="Connector 21"/>
          <p:cNvCxnSpPr/>
          <p:nvPr/>
        </p:nvCxnSpPr>
        <p:spPr>
          <a:xfrm>
            <a:off x="594360" y="6473952"/>
            <a:ext cx="11000232"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1792" y="6519672"/>
            <a:ext cx="10149840" cy="164592"/>
          </a:xfrm>
          <a:prstGeom prst="rect">
            <a:avLst/>
          </a:prstGeom>
          <a:noFill/>
        </p:spPr>
        <p:txBody>
          <a:bodyPr wrap="square" anchor="t">
            <a:spAutoFit/>
          </a:bodyPr>
          <a:lstStyle/>
          <a:p>
            <a:pPr algn="l"/>
            <a:r>
              <a:rPr sz="780" b="0">
                <a:solidFill>
                  <a:srgbClr val="5C6972"/>
                </a:solidFill>
                <a:latin typeface="Aptos"/>
              </a:rPr>
              <a:t>Nguồn: thptductrong.edu.vn – các thông báo/kết quả tuyển sinh lớp 10 ngày 05/8, 06/8 và 27/8/2026.</a:t>
            </a:r>
          </a:p>
        </p:txBody>
      </p:sp>
      <p:sp>
        <p:nvSpPr>
          <p:cNvPr id="24" name="TextBox 23"/>
          <p:cNvSpPr txBox="1"/>
          <p:nvPr/>
        </p:nvSpPr>
        <p:spPr>
          <a:xfrm>
            <a:off x="11064240" y="6492240"/>
            <a:ext cx="502920" cy="201168"/>
          </a:xfrm>
          <a:prstGeom prst="rect">
            <a:avLst/>
          </a:prstGeom>
          <a:noFill/>
        </p:spPr>
        <p:txBody>
          <a:bodyPr wrap="square" anchor="t">
            <a:spAutoFit/>
          </a:bodyPr>
          <a:lstStyle/>
          <a:p>
            <a:pPr algn="r"/>
            <a:r>
              <a:rPr sz="800" b="1">
                <a:solidFill>
                  <a:srgbClr val="5C6972"/>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875520" cy="502920"/>
          </a:xfrm>
          <a:prstGeom prst="rect">
            <a:avLst/>
          </a:prstGeom>
          <a:noFill/>
        </p:spPr>
        <p:txBody>
          <a:bodyPr wrap="square" anchor="t">
            <a:spAutoFit/>
          </a:bodyPr>
          <a:lstStyle/>
          <a:p>
            <a:pPr algn="l"/>
            <a:r>
              <a:rPr sz="2700" b="1">
                <a:solidFill>
                  <a:srgbClr val="13304A"/>
                </a:solidFill>
                <a:latin typeface="Aptos Display"/>
              </a:rPr>
              <a:t>7. Các môn học ở lớp 10 theo CT GDPT 2018</a:t>
            </a:r>
          </a:p>
        </p:txBody>
      </p:sp>
      <p:cxnSp>
        <p:nvCxnSpPr>
          <p:cNvPr id="4" name="Connector 3"/>
          <p:cNvCxnSpPr/>
          <p:nvPr/>
        </p:nvCxnSpPr>
        <p:spPr>
          <a:xfrm>
            <a:off x="594360" y="987552"/>
            <a:ext cx="11000232" cy="0"/>
          </a:xfrm>
          <a:prstGeom prst="line">
            <a:avLst/>
          </a:prstGeom>
          <a:ln w="2159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2648" y="1078992"/>
            <a:ext cx="10698480" cy="411480"/>
          </a:xfrm>
          <a:prstGeom prst="rect">
            <a:avLst/>
          </a:prstGeom>
          <a:noFill/>
        </p:spPr>
        <p:txBody>
          <a:bodyPr wrap="square" anchor="t">
            <a:spAutoFit/>
          </a:bodyPr>
          <a:lstStyle/>
          <a:p>
            <a:pPr algn="l"/>
            <a:r>
              <a:rPr sz="1200" b="0">
                <a:solidFill>
                  <a:srgbClr val="5C6972"/>
                </a:solidFill>
                <a:latin typeface="Aptos"/>
              </a:rPr>
              <a:t>Phần dưới đây là khung chương trình cấp THPT; tổ hợp cụ thể của trường phải theo thông báo của nhà trường.</a:t>
            </a:r>
          </a:p>
        </p:txBody>
      </p:sp>
      <p:sp>
        <p:nvSpPr>
          <p:cNvPr id="6" name="TextBox 5"/>
          <p:cNvSpPr txBox="1"/>
          <p:nvPr/>
        </p:nvSpPr>
        <p:spPr>
          <a:xfrm>
            <a:off x="10972800" y="411480"/>
            <a:ext cx="548640" cy="320040"/>
          </a:xfrm>
          <a:prstGeom prst="rect">
            <a:avLst/>
          </a:prstGeom>
          <a:noFill/>
        </p:spPr>
        <p:txBody>
          <a:bodyPr wrap="square" anchor="t">
            <a:spAutoFit/>
          </a:bodyPr>
          <a:lstStyle/>
          <a:p>
            <a:pPr algn="r"/>
            <a:r>
              <a:rPr sz="1100" b="1">
                <a:solidFill>
                  <a:srgbClr val="5C6972"/>
                </a:solidFill>
                <a:latin typeface="Aptos"/>
              </a:rPr>
              <a:t>08</a:t>
            </a:r>
          </a:p>
        </p:txBody>
      </p:sp>
      <p:sp>
        <p:nvSpPr>
          <p:cNvPr id="7" name="Rounded Rectangle 6"/>
          <p:cNvSpPr/>
          <p:nvPr/>
        </p:nvSpPr>
        <p:spPr>
          <a:xfrm>
            <a:off x="658368" y="1444752"/>
            <a:ext cx="5440680" cy="448056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32688" y="1737360"/>
            <a:ext cx="2395728" cy="347472"/>
          </a:xfrm>
          <a:prstGeom prst="roundRect">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755648"/>
            <a:ext cx="2395728" cy="329184"/>
          </a:xfrm>
          <a:prstGeom prst="rect">
            <a:avLst/>
          </a:prstGeom>
          <a:noFill/>
        </p:spPr>
        <p:txBody>
          <a:bodyPr wrap="square" anchor="ctr">
            <a:spAutoFit/>
          </a:bodyPr>
          <a:lstStyle/>
          <a:p>
            <a:pPr algn="ctr"/>
            <a:r>
              <a:rPr sz="930" b="1">
                <a:solidFill>
                  <a:srgbClr val="13304A"/>
                </a:solidFill>
                <a:latin typeface="Aptos"/>
              </a:rPr>
              <a:t>8 MÔN / HOẠT ĐỘNG BẮT BUỘC</a:t>
            </a:r>
          </a:p>
        </p:txBody>
      </p:sp>
      <p:sp>
        <p:nvSpPr>
          <p:cNvPr id="10" name="TextBox 9"/>
          <p:cNvSpPr txBox="1"/>
          <p:nvPr/>
        </p:nvSpPr>
        <p:spPr>
          <a:xfrm>
            <a:off x="960120" y="2331720"/>
            <a:ext cx="4709160" cy="310896"/>
          </a:xfrm>
          <a:prstGeom prst="rect">
            <a:avLst/>
          </a:prstGeom>
          <a:noFill/>
        </p:spPr>
        <p:txBody>
          <a:bodyPr wrap="square" anchor="t">
            <a:spAutoFit/>
          </a:bodyPr>
          <a:lstStyle/>
          <a:p>
            <a:pPr algn="l"/>
            <a:r>
              <a:rPr sz="1210" b="0">
                <a:solidFill>
                  <a:srgbClr val="1C242A"/>
                </a:solidFill>
                <a:latin typeface="Aptos"/>
              </a:rPr>
              <a:t>• Ngữ văn</a:t>
            </a:r>
          </a:p>
        </p:txBody>
      </p:sp>
      <p:sp>
        <p:nvSpPr>
          <p:cNvPr id="11" name="TextBox 10"/>
          <p:cNvSpPr txBox="1"/>
          <p:nvPr/>
        </p:nvSpPr>
        <p:spPr>
          <a:xfrm>
            <a:off x="960120" y="2752344"/>
            <a:ext cx="4709160" cy="310896"/>
          </a:xfrm>
          <a:prstGeom prst="rect">
            <a:avLst/>
          </a:prstGeom>
          <a:noFill/>
        </p:spPr>
        <p:txBody>
          <a:bodyPr wrap="square" anchor="t">
            <a:spAutoFit/>
          </a:bodyPr>
          <a:lstStyle/>
          <a:p>
            <a:pPr algn="l"/>
            <a:r>
              <a:rPr sz="1210" b="0">
                <a:solidFill>
                  <a:srgbClr val="1C242A"/>
                </a:solidFill>
                <a:latin typeface="Aptos"/>
              </a:rPr>
              <a:t>• Toán</a:t>
            </a:r>
          </a:p>
        </p:txBody>
      </p:sp>
      <p:sp>
        <p:nvSpPr>
          <p:cNvPr id="12" name="TextBox 11"/>
          <p:cNvSpPr txBox="1"/>
          <p:nvPr/>
        </p:nvSpPr>
        <p:spPr>
          <a:xfrm>
            <a:off x="960120" y="3172968"/>
            <a:ext cx="4709160" cy="310896"/>
          </a:xfrm>
          <a:prstGeom prst="rect">
            <a:avLst/>
          </a:prstGeom>
          <a:noFill/>
        </p:spPr>
        <p:txBody>
          <a:bodyPr wrap="square" anchor="t">
            <a:spAutoFit/>
          </a:bodyPr>
          <a:lstStyle/>
          <a:p>
            <a:pPr algn="l"/>
            <a:r>
              <a:rPr sz="1210" b="0">
                <a:solidFill>
                  <a:srgbClr val="1C242A"/>
                </a:solidFill>
                <a:latin typeface="Aptos"/>
              </a:rPr>
              <a:t>• Ngoại ngữ 1</a:t>
            </a:r>
          </a:p>
        </p:txBody>
      </p:sp>
      <p:sp>
        <p:nvSpPr>
          <p:cNvPr id="13" name="TextBox 12"/>
          <p:cNvSpPr txBox="1"/>
          <p:nvPr/>
        </p:nvSpPr>
        <p:spPr>
          <a:xfrm>
            <a:off x="960120" y="3593591"/>
            <a:ext cx="4709160" cy="310896"/>
          </a:xfrm>
          <a:prstGeom prst="rect">
            <a:avLst/>
          </a:prstGeom>
          <a:noFill/>
        </p:spPr>
        <p:txBody>
          <a:bodyPr wrap="square" anchor="t">
            <a:spAutoFit/>
          </a:bodyPr>
          <a:lstStyle/>
          <a:p>
            <a:pPr algn="l"/>
            <a:r>
              <a:rPr sz="1210" b="0">
                <a:solidFill>
                  <a:srgbClr val="1C242A"/>
                </a:solidFill>
                <a:latin typeface="Aptos"/>
              </a:rPr>
              <a:t>• Lịch sử</a:t>
            </a:r>
          </a:p>
        </p:txBody>
      </p:sp>
      <p:sp>
        <p:nvSpPr>
          <p:cNvPr id="14" name="TextBox 13"/>
          <p:cNvSpPr txBox="1"/>
          <p:nvPr/>
        </p:nvSpPr>
        <p:spPr>
          <a:xfrm>
            <a:off x="960120" y="4014215"/>
            <a:ext cx="4709160" cy="310896"/>
          </a:xfrm>
          <a:prstGeom prst="rect">
            <a:avLst/>
          </a:prstGeom>
          <a:noFill/>
        </p:spPr>
        <p:txBody>
          <a:bodyPr wrap="square" anchor="t">
            <a:spAutoFit/>
          </a:bodyPr>
          <a:lstStyle/>
          <a:p>
            <a:pPr algn="l"/>
            <a:r>
              <a:rPr sz="1210" b="0">
                <a:solidFill>
                  <a:srgbClr val="1C242A"/>
                </a:solidFill>
                <a:latin typeface="Aptos"/>
              </a:rPr>
              <a:t>• Giáo dục thể chất</a:t>
            </a:r>
          </a:p>
        </p:txBody>
      </p:sp>
      <p:sp>
        <p:nvSpPr>
          <p:cNvPr id="15" name="TextBox 14"/>
          <p:cNvSpPr txBox="1"/>
          <p:nvPr/>
        </p:nvSpPr>
        <p:spPr>
          <a:xfrm>
            <a:off x="960120" y="4434840"/>
            <a:ext cx="4709160" cy="310896"/>
          </a:xfrm>
          <a:prstGeom prst="rect">
            <a:avLst/>
          </a:prstGeom>
          <a:noFill/>
        </p:spPr>
        <p:txBody>
          <a:bodyPr wrap="square" anchor="t">
            <a:spAutoFit/>
          </a:bodyPr>
          <a:lstStyle/>
          <a:p>
            <a:pPr algn="l"/>
            <a:r>
              <a:rPr sz="1210" b="0">
                <a:solidFill>
                  <a:srgbClr val="1C242A"/>
                </a:solidFill>
                <a:latin typeface="Aptos"/>
              </a:rPr>
              <a:t>• Giáo dục quốc phòng và an ninh</a:t>
            </a:r>
          </a:p>
        </p:txBody>
      </p:sp>
      <p:sp>
        <p:nvSpPr>
          <p:cNvPr id="16" name="TextBox 15"/>
          <p:cNvSpPr txBox="1"/>
          <p:nvPr/>
        </p:nvSpPr>
        <p:spPr>
          <a:xfrm>
            <a:off x="960120" y="4855464"/>
            <a:ext cx="4709160" cy="310896"/>
          </a:xfrm>
          <a:prstGeom prst="rect">
            <a:avLst/>
          </a:prstGeom>
          <a:noFill/>
        </p:spPr>
        <p:txBody>
          <a:bodyPr wrap="square" anchor="t">
            <a:spAutoFit/>
          </a:bodyPr>
          <a:lstStyle/>
          <a:p>
            <a:pPr algn="l"/>
            <a:r>
              <a:rPr sz="1210" b="0">
                <a:solidFill>
                  <a:srgbClr val="1C242A"/>
                </a:solidFill>
                <a:latin typeface="Aptos"/>
              </a:rPr>
              <a:t>• Hoạt động trải nghiệm – hướng nghiệp</a:t>
            </a:r>
          </a:p>
        </p:txBody>
      </p:sp>
      <p:sp>
        <p:nvSpPr>
          <p:cNvPr id="17" name="TextBox 16"/>
          <p:cNvSpPr txBox="1"/>
          <p:nvPr/>
        </p:nvSpPr>
        <p:spPr>
          <a:xfrm>
            <a:off x="960120" y="5276088"/>
            <a:ext cx="4709160" cy="310896"/>
          </a:xfrm>
          <a:prstGeom prst="rect">
            <a:avLst/>
          </a:prstGeom>
          <a:noFill/>
        </p:spPr>
        <p:txBody>
          <a:bodyPr wrap="square" anchor="t">
            <a:spAutoFit/>
          </a:bodyPr>
          <a:lstStyle/>
          <a:p>
            <a:pPr algn="l"/>
            <a:r>
              <a:rPr sz="1210" b="0">
                <a:solidFill>
                  <a:srgbClr val="1C242A"/>
                </a:solidFill>
                <a:latin typeface="Aptos"/>
              </a:rPr>
              <a:t>• Nội dung giáo dục của địa phương</a:t>
            </a:r>
          </a:p>
        </p:txBody>
      </p:sp>
      <p:sp>
        <p:nvSpPr>
          <p:cNvPr id="18" name="Rounded Rectangle 17"/>
          <p:cNvSpPr/>
          <p:nvPr/>
        </p:nvSpPr>
        <p:spPr>
          <a:xfrm>
            <a:off x="6355080" y="1444752"/>
            <a:ext cx="5184648" cy="4480560"/>
          </a:xfrm>
          <a:prstGeom prst="roundRect">
            <a:avLst/>
          </a:prstGeom>
          <a:solidFill>
            <a:srgbClr val="FFFFFF"/>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629400" y="1737360"/>
            <a:ext cx="2514600" cy="347472"/>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1755648"/>
            <a:ext cx="2514600" cy="329184"/>
          </a:xfrm>
          <a:prstGeom prst="rect">
            <a:avLst/>
          </a:prstGeom>
          <a:noFill/>
        </p:spPr>
        <p:txBody>
          <a:bodyPr wrap="square" anchor="ctr">
            <a:spAutoFit/>
          </a:bodyPr>
          <a:lstStyle/>
          <a:p>
            <a:pPr algn="ctr"/>
            <a:r>
              <a:rPr sz="930" b="1">
                <a:solidFill>
                  <a:srgbClr val="295E4A"/>
                </a:solidFill>
                <a:latin typeface="Aptos"/>
              </a:rPr>
              <a:t>9 MÔN HỌC LỰA CHỌN – CHỌN 4</a:t>
            </a:r>
          </a:p>
        </p:txBody>
      </p:sp>
      <p:sp>
        <p:nvSpPr>
          <p:cNvPr id="21" name="TextBox 20"/>
          <p:cNvSpPr txBox="1"/>
          <p:nvPr/>
        </p:nvSpPr>
        <p:spPr>
          <a:xfrm>
            <a:off x="6656832" y="2331720"/>
            <a:ext cx="2057400" cy="310896"/>
          </a:xfrm>
          <a:prstGeom prst="rect">
            <a:avLst/>
          </a:prstGeom>
          <a:noFill/>
        </p:spPr>
        <p:txBody>
          <a:bodyPr wrap="square" anchor="t">
            <a:spAutoFit/>
          </a:bodyPr>
          <a:lstStyle/>
          <a:p>
            <a:pPr algn="l"/>
            <a:r>
              <a:rPr sz="1170" b="0">
                <a:solidFill>
                  <a:srgbClr val="1C242A"/>
                </a:solidFill>
                <a:latin typeface="Aptos"/>
              </a:rPr>
              <a:t>① Địa lí</a:t>
            </a:r>
          </a:p>
        </p:txBody>
      </p:sp>
      <p:sp>
        <p:nvSpPr>
          <p:cNvPr id="22" name="TextBox 21"/>
          <p:cNvSpPr txBox="1"/>
          <p:nvPr/>
        </p:nvSpPr>
        <p:spPr>
          <a:xfrm>
            <a:off x="6656832" y="2834639"/>
            <a:ext cx="2057400" cy="310896"/>
          </a:xfrm>
          <a:prstGeom prst="rect">
            <a:avLst/>
          </a:prstGeom>
          <a:noFill/>
        </p:spPr>
        <p:txBody>
          <a:bodyPr wrap="square" anchor="t">
            <a:spAutoFit/>
          </a:bodyPr>
          <a:lstStyle/>
          <a:p>
            <a:pPr algn="l"/>
            <a:r>
              <a:rPr sz="1170" b="0">
                <a:solidFill>
                  <a:srgbClr val="1C242A"/>
                </a:solidFill>
                <a:latin typeface="Aptos"/>
              </a:rPr>
              <a:t>① Giáo dục kinh tế và pháp luật</a:t>
            </a:r>
          </a:p>
        </p:txBody>
      </p:sp>
      <p:sp>
        <p:nvSpPr>
          <p:cNvPr id="23" name="TextBox 22"/>
          <p:cNvSpPr txBox="1"/>
          <p:nvPr/>
        </p:nvSpPr>
        <p:spPr>
          <a:xfrm>
            <a:off x="6656832" y="3337560"/>
            <a:ext cx="2057400" cy="310896"/>
          </a:xfrm>
          <a:prstGeom prst="rect">
            <a:avLst/>
          </a:prstGeom>
          <a:noFill/>
        </p:spPr>
        <p:txBody>
          <a:bodyPr wrap="square" anchor="t">
            <a:spAutoFit/>
          </a:bodyPr>
          <a:lstStyle/>
          <a:p>
            <a:pPr algn="l"/>
            <a:r>
              <a:rPr sz="1170" b="0">
                <a:solidFill>
                  <a:srgbClr val="1C242A"/>
                </a:solidFill>
                <a:latin typeface="Aptos"/>
              </a:rPr>
              <a:t>① Vật lí</a:t>
            </a:r>
          </a:p>
        </p:txBody>
      </p:sp>
      <p:sp>
        <p:nvSpPr>
          <p:cNvPr id="24" name="TextBox 23"/>
          <p:cNvSpPr txBox="1"/>
          <p:nvPr/>
        </p:nvSpPr>
        <p:spPr>
          <a:xfrm>
            <a:off x="6656832" y="3840480"/>
            <a:ext cx="2057400" cy="310896"/>
          </a:xfrm>
          <a:prstGeom prst="rect">
            <a:avLst/>
          </a:prstGeom>
          <a:noFill/>
        </p:spPr>
        <p:txBody>
          <a:bodyPr wrap="square" anchor="t">
            <a:spAutoFit/>
          </a:bodyPr>
          <a:lstStyle/>
          <a:p>
            <a:pPr algn="l"/>
            <a:r>
              <a:rPr sz="1170" b="0">
                <a:solidFill>
                  <a:srgbClr val="1C242A"/>
                </a:solidFill>
                <a:latin typeface="Aptos"/>
              </a:rPr>
              <a:t>① Hóa học</a:t>
            </a:r>
          </a:p>
        </p:txBody>
      </p:sp>
      <p:sp>
        <p:nvSpPr>
          <p:cNvPr id="25" name="TextBox 24"/>
          <p:cNvSpPr txBox="1"/>
          <p:nvPr/>
        </p:nvSpPr>
        <p:spPr>
          <a:xfrm>
            <a:off x="6656832" y="4343400"/>
            <a:ext cx="2057400" cy="310896"/>
          </a:xfrm>
          <a:prstGeom prst="rect">
            <a:avLst/>
          </a:prstGeom>
          <a:noFill/>
        </p:spPr>
        <p:txBody>
          <a:bodyPr wrap="square" anchor="t">
            <a:spAutoFit/>
          </a:bodyPr>
          <a:lstStyle/>
          <a:p>
            <a:pPr algn="l"/>
            <a:r>
              <a:rPr sz="1170" b="0">
                <a:solidFill>
                  <a:srgbClr val="1C242A"/>
                </a:solidFill>
                <a:latin typeface="Aptos"/>
              </a:rPr>
              <a:t>① Sinh học</a:t>
            </a:r>
          </a:p>
        </p:txBody>
      </p:sp>
      <p:sp>
        <p:nvSpPr>
          <p:cNvPr id="26" name="TextBox 25"/>
          <p:cNvSpPr txBox="1"/>
          <p:nvPr/>
        </p:nvSpPr>
        <p:spPr>
          <a:xfrm>
            <a:off x="8988552" y="2331720"/>
            <a:ext cx="2057400" cy="310896"/>
          </a:xfrm>
          <a:prstGeom prst="rect">
            <a:avLst/>
          </a:prstGeom>
          <a:noFill/>
        </p:spPr>
        <p:txBody>
          <a:bodyPr wrap="square" anchor="t">
            <a:spAutoFit/>
          </a:bodyPr>
          <a:lstStyle/>
          <a:p>
            <a:pPr algn="l"/>
            <a:r>
              <a:rPr sz="1170" b="0">
                <a:solidFill>
                  <a:srgbClr val="1C242A"/>
                </a:solidFill>
                <a:latin typeface="Aptos"/>
              </a:rPr>
              <a:t>② Công nghệ</a:t>
            </a:r>
          </a:p>
        </p:txBody>
      </p:sp>
      <p:sp>
        <p:nvSpPr>
          <p:cNvPr id="27" name="TextBox 26"/>
          <p:cNvSpPr txBox="1"/>
          <p:nvPr/>
        </p:nvSpPr>
        <p:spPr>
          <a:xfrm>
            <a:off x="8988552" y="2834639"/>
            <a:ext cx="2057400" cy="310896"/>
          </a:xfrm>
          <a:prstGeom prst="rect">
            <a:avLst/>
          </a:prstGeom>
          <a:noFill/>
        </p:spPr>
        <p:txBody>
          <a:bodyPr wrap="square" anchor="t">
            <a:spAutoFit/>
          </a:bodyPr>
          <a:lstStyle/>
          <a:p>
            <a:pPr algn="l"/>
            <a:r>
              <a:rPr sz="1170" b="0">
                <a:solidFill>
                  <a:srgbClr val="1C242A"/>
                </a:solidFill>
                <a:latin typeface="Aptos"/>
              </a:rPr>
              <a:t>② Tin học</a:t>
            </a:r>
          </a:p>
        </p:txBody>
      </p:sp>
      <p:sp>
        <p:nvSpPr>
          <p:cNvPr id="28" name="TextBox 27"/>
          <p:cNvSpPr txBox="1"/>
          <p:nvPr/>
        </p:nvSpPr>
        <p:spPr>
          <a:xfrm>
            <a:off x="8988552" y="3337560"/>
            <a:ext cx="2057400" cy="310896"/>
          </a:xfrm>
          <a:prstGeom prst="rect">
            <a:avLst/>
          </a:prstGeom>
          <a:noFill/>
        </p:spPr>
        <p:txBody>
          <a:bodyPr wrap="square" anchor="t">
            <a:spAutoFit/>
          </a:bodyPr>
          <a:lstStyle/>
          <a:p>
            <a:pPr algn="l"/>
            <a:r>
              <a:rPr sz="1170" b="0">
                <a:solidFill>
                  <a:srgbClr val="1C242A"/>
                </a:solidFill>
                <a:latin typeface="Aptos"/>
              </a:rPr>
              <a:t>② Âm nhạc</a:t>
            </a:r>
          </a:p>
        </p:txBody>
      </p:sp>
      <p:sp>
        <p:nvSpPr>
          <p:cNvPr id="29" name="TextBox 28"/>
          <p:cNvSpPr txBox="1"/>
          <p:nvPr/>
        </p:nvSpPr>
        <p:spPr>
          <a:xfrm>
            <a:off x="8988552" y="3840480"/>
            <a:ext cx="2057400" cy="310896"/>
          </a:xfrm>
          <a:prstGeom prst="rect">
            <a:avLst/>
          </a:prstGeom>
          <a:noFill/>
        </p:spPr>
        <p:txBody>
          <a:bodyPr wrap="square" anchor="t">
            <a:spAutoFit/>
          </a:bodyPr>
          <a:lstStyle/>
          <a:p>
            <a:pPr algn="l"/>
            <a:r>
              <a:rPr sz="1170" b="0">
                <a:solidFill>
                  <a:srgbClr val="1C242A"/>
                </a:solidFill>
                <a:latin typeface="Aptos"/>
              </a:rPr>
              <a:t>② Mĩ thuật</a:t>
            </a:r>
          </a:p>
        </p:txBody>
      </p:sp>
      <p:sp>
        <p:nvSpPr>
          <p:cNvPr id="30" name="TextBox 29"/>
          <p:cNvSpPr txBox="1"/>
          <p:nvPr/>
        </p:nvSpPr>
        <p:spPr>
          <a:xfrm>
            <a:off x="6656832" y="4919472"/>
            <a:ext cx="4434840" cy="658368"/>
          </a:xfrm>
          <a:prstGeom prst="rect">
            <a:avLst/>
          </a:prstGeom>
          <a:noFill/>
        </p:spPr>
        <p:txBody>
          <a:bodyPr wrap="square" anchor="t">
            <a:spAutoFit/>
          </a:bodyPr>
          <a:lstStyle/>
          <a:p>
            <a:pPr algn="l"/>
            <a:r>
              <a:rPr sz="1120" b="1">
                <a:solidFill>
                  <a:srgbClr val="13304A"/>
                </a:solidFill>
                <a:latin typeface="Aptos"/>
              </a:rPr>
              <a:t>Ngoài 4 môn lựa chọn, học sinh còn chọn 3 cụm chuyên đề học tập theo khả năng tổ chức của trường.</a:t>
            </a:r>
          </a:p>
        </p:txBody>
      </p:sp>
      <p:cxnSp>
        <p:nvCxnSpPr>
          <p:cNvPr id="31" name="Connector 30"/>
          <p:cNvCxnSpPr/>
          <p:nvPr/>
        </p:nvCxnSpPr>
        <p:spPr>
          <a:xfrm>
            <a:off x="594360" y="6473952"/>
            <a:ext cx="11000232"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1792" y="6519672"/>
            <a:ext cx="10149840" cy="164592"/>
          </a:xfrm>
          <a:prstGeom prst="rect">
            <a:avLst/>
          </a:prstGeom>
          <a:noFill/>
        </p:spPr>
        <p:txBody>
          <a:bodyPr wrap="square" anchor="t">
            <a:spAutoFit/>
          </a:bodyPr>
          <a:lstStyle/>
          <a:p>
            <a:pPr algn="l"/>
            <a:r>
              <a:rPr sz="780" b="0">
                <a:solidFill>
                  <a:srgbClr val="5C6972"/>
                </a:solidFill>
                <a:latin typeface="Aptos"/>
              </a:rPr>
              <a:t>Nguồn: Thông tư 13/2022/TT-BGDĐT sửa đổi CT GDPT; thông tin tuyển sinh và khối 10 của Trường THPT Đức Trọng.</a:t>
            </a:r>
          </a:p>
        </p:txBody>
      </p:sp>
      <p:sp>
        <p:nvSpPr>
          <p:cNvPr id="33" name="TextBox 32"/>
          <p:cNvSpPr txBox="1"/>
          <p:nvPr/>
        </p:nvSpPr>
        <p:spPr>
          <a:xfrm>
            <a:off x="11064240" y="6492240"/>
            <a:ext cx="502920" cy="201168"/>
          </a:xfrm>
          <a:prstGeom prst="rect">
            <a:avLst/>
          </a:prstGeom>
          <a:noFill/>
        </p:spPr>
        <p:txBody>
          <a:bodyPr wrap="square" anchor="t">
            <a:spAutoFit/>
          </a:bodyPr>
          <a:lstStyle/>
          <a:p>
            <a:pPr algn="r"/>
            <a:r>
              <a:rPr sz="800" b="1">
                <a:solidFill>
                  <a:srgbClr val="5C6972"/>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7F9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9875520" cy="502920"/>
          </a:xfrm>
          <a:prstGeom prst="rect">
            <a:avLst/>
          </a:prstGeom>
          <a:noFill/>
        </p:spPr>
        <p:txBody>
          <a:bodyPr wrap="square" anchor="t">
            <a:spAutoFit/>
          </a:bodyPr>
          <a:lstStyle/>
          <a:p>
            <a:pPr algn="l"/>
            <a:r>
              <a:rPr sz="2700" b="1">
                <a:solidFill>
                  <a:srgbClr val="13304A"/>
                </a:solidFill>
                <a:latin typeface="Aptos Display"/>
              </a:rPr>
              <a:t>8. Tổ hợp môn ở THPT Đức Trọng: điều gì cần kiểm tra?</a:t>
            </a:r>
          </a:p>
        </p:txBody>
      </p:sp>
      <p:cxnSp>
        <p:nvCxnSpPr>
          <p:cNvPr id="4" name="Connector 3"/>
          <p:cNvCxnSpPr/>
          <p:nvPr/>
        </p:nvCxnSpPr>
        <p:spPr>
          <a:xfrm>
            <a:off x="594360" y="987552"/>
            <a:ext cx="11000232" cy="0"/>
          </a:xfrm>
          <a:prstGeom prst="line">
            <a:avLst/>
          </a:prstGeom>
          <a:ln w="2159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12648" y="1078992"/>
            <a:ext cx="10698480" cy="411480"/>
          </a:xfrm>
          <a:prstGeom prst="rect">
            <a:avLst/>
          </a:prstGeom>
          <a:noFill/>
        </p:spPr>
        <p:txBody>
          <a:bodyPr wrap="square" anchor="t">
            <a:spAutoFit/>
          </a:bodyPr>
          <a:lstStyle/>
          <a:p>
            <a:pPr algn="l"/>
            <a:r>
              <a:rPr sz="1200" b="0">
                <a:solidFill>
                  <a:srgbClr val="5C6972"/>
                </a:solidFill>
                <a:latin typeface="Aptos"/>
              </a:rPr>
              <a:t>Không tự ghép tổ hợp khi nhà trường chưa công khai phương án chính thức cho năm 2026–2027.</a:t>
            </a:r>
          </a:p>
        </p:txBody>
      </p:sp>
      <p:sp>
        <p:nvSpPr>
          <p:cNvPr id="6" name="TextBox 5"/>
          <p:cNvSpPr txBox="1"/>
          <p:nvPr/>
        </p:nvSpPr>
        <p:spPr>
          <a:xfrm>
            <a:off x="10972800" y="411480"/>
            <a:ext cx="548640" cy="320040"/>
          </a:xfrm>
          <a:prstGeom prst="rect">
            <a:avLst/>
          </a:prstGeom>
          <a:noFill/>
        </p:spPr>
        <p:txBody>
          <a:bodyPr wrap="square" anchor="t">
            <a:spAutoFit/>
          </a:bodyPr>
          <a:lstStyle/>
          <a:p>
            <a:pPr algn="r"/>
            <a:r>
              <a:rPr sz="1100" b="1">
                <a:solidFill>
                  <a:srgbClr val="5C6972"/>
                </a:solidFill>
                <a:latin typeface="Aptos"/>
              </a:rPr>
              <a:t>09</a:t>
            </a:r>
          </a:p>
        </p:txBody>
      </p:sp>
      <p:sp>
        <p:nvSpPr>
          <p:cNvPr id="7" name="Rounded Rectangle 6"/>
          <p:cNvSpPr/>
          <p:nvPr/>
        </p:nvSpPr>
        <p:spPr>
          <a:xfrm>
            <a:off x="713232" y="1508760"/>
            <a:ext cx="10652760" cy="1115568"/>
          </a:xfrm>
          <a:prstGeom prst="roundRect">
            <a:avLst/>
          </a:prstGeom>
          <a:solidFill>
            <a:srgbClr val="1330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2415" y="1801368"/>
            <a:ext cx="10012680" cy="566928"/>
          </a:xfrm>
          <a:prstGeom prst="rect">
            <a:avLst/>
          </a:prstGeom>
          <a:noFill/>
        </p:spPr>
        <p:txBody>
          <a:bodyPr wrap="square" anchor="t">
            <a:spAutoFit/>
          </a:bodyPr>
          <a:lstStyle/>
          <a:p>
            <a:pPr algn="ctr"/>
            <a:r>
              <a:rPr sz="1320" b="1">
                <a:solidFill>
                  <a:srgbClr val="FFFFFF"/>
                </a:solidFill>
                <a:latin typeface="Aptos"/>
              </a:rPr>
              <a:t>Tại thời điểm kiểm tra thông tin (29/9/2026), cổng thông tin nhà trường đang công khai các thông báo tuyển sinh 2026–2027, nhưng chưa tìm thấy bài công bố chi tiết các tổ hợp môn lớp 10 của năm 2026–2027.</a:t>
            </a:r>
          </a:p>
        </p:txBody>
      </p:sp>
      <p:sp>
        <p:nvSpPr>
          <p:cNvPr id="9" name="TextBox 8"/>
          <p:cNvSpPr txBox="1"/>
          <p:nvPr/>
        </p:nvSpPr>
        <p:spPr>
          <a:xfrm>
            <a:off x="749808" y="2971800"/>
            <a:ext cx="4206240" cy="365760"/>
          </a:xfrm>
          <a:prstGeom prst="rect">
            <a:avLst/>
          </a:prstGeom>
          <a:noFill/>
        </p:spPr>
        <p:txBody>
          <a:bodyPr wrap="square" anchor="t">
            <a:spAutoFit/>
          </a:bodyPr>
          <a:lstStyle/>
          <a:p>
            <a:pPr algn="l"/>
            <a:r>
              <a:rPr sz="1900" b="1">
                <a:solidFill>
                  <a:srgbClr val="13304A"/>
                </a:solidFill>
                <a:latin typeface="Aptos Display"/>
              </a:rPr>
              <a:t>Có thể trình bày chính xác như sau</a:t>
            </a:r>
          </a:p>
        </p:txBody>
      </p:sp>
      <p:sp>
        <p:nvSpPr>
          <p:cNvPr id="10" name="Rounded Rectangle 9"/>
          <p:cNvSpPr/>
          <p:nvPr/>
        </p:nvSpPr>
        <p:spPr>
          <a:xfrm>
            <a:off x="804672" y="3566160"/>
            <a:ext cx="502920" cy="356616"/>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584448"/>
            <a:ext cx="502920" cy="338328"/>
          </a:xfrm>
          <a:prstGeom prst="rect">
            <a:avLst/>
          </a:prstGeom>
          <a:noFill/>
        </p:spPr>
        <p:txBody>
          <a:bodyPr wrap="square" anchor="ctr">
            <a:spAutoFit/>
          </a:bodyPr>
          <a:lstStyle/>
          <a:p>
            <a:pPr algn="ctr"/>
            <a:r>
              <a:rPr sz="1050" b="1">
                <a:solidFill>
                  <a:srgbClr val="295E4A"/>
                </a:solidFill>
                <a:latin typeface="Aptos"/>
              </a:rPr>
              <a:t>01</a:t>
            </a:r>
          </a:p>
        </p:txBody>
      </p:sp>
      <p:sp>
        <p:nvSpPr>
          <p:cNvPr id="12" name="TextBox 11"/>
          <p:cNvSpPr txBox="1"/>
          <p:nvPr/>
        </p:nvSpPr>
        <p:spPr>
          <a:xfrm>
            <a:off x="1481328" y="3547872"/>
            <a:ext cx="1920240" cy="320040"/>
          </a:xfrm>
          <a:prstGeom prst="rect">
            <a:avLst/>
          </a:prstGeom>
          <a:noFill/>
        </p:spPr>
        <p:txBody>
          <a:bodyPr wrap="square" anchor="t">
            <a:spAutoFit/>
          </a:bodyPr>
          <a:lstStyle/>
          <a:p>
            <a:pPr algn="l"/>
            <a:r>
              <a:rPr sz="1330" b="1">
                <a:solidFill>
                  <a:srgbClr val="13304A"/>
                </a:solidFill>
                <a:latin typeface="Aptos"/>
              </a:rPr>
              <a:t>Khung quốc gia</a:t>
            </a:r>
          </a:p>
        </p:txBody>
      </p:sp>
      <p:sp>
        <p:nvSpPr>
          <p:cNvPr id="13" name="TextBox 12"/>
          <p:cNvSpPr txBox="1"/>
          <p:nvPr/>
        </p:nvSpPr>
        <p:spPr>
          <a:xfrm>
            <a:off x="3364992" y="3547872"/>
            <a:ext cx="7360920" cy="512064"/>
          </a:xfrm>
          <a:prstGeom prst="rect">
            <a:avLst/>
          </a:prstGeom>
          <a:noFill/>
        </p:spPr>
        <p:txBody>
          <a:bodyPr wrap="square" anchor="t">
            <a:spAutoFit/>
          </a:bodyPr>
          <a:lstStyle/>
          <a:p>
            <a:pPr algn="l"/>
            <a:r>
              <a:rPr sz="1210" b="0">
                <a:solidFill>
                  <a:srgbClr val="1C242A"/>
                </a:solidFill>
                <a:latin typeface="Aptos"/>
              </a:rPr>
              <a:t>Học sinh chọn 4/9 môn lựa chọn và 3 cụm chuyên đề.</a:t>
            </a:r>
          </a:p>
        </p:txBody>
      </p:sp>
      <p:sp>
        <p:nvSpPr>
          <p:cNvPr id="14" name="Rounded Rectangle 13"/>
          <p:cNvSpPr/>
          <p:nvPr/>
        </p:nvSpPr>
        <p:spPr>
          <a:xfrm>
            <a:off x="804672" y="4334256"/>
            <a:ext cx="502920" cy="356616"/>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4352544"/>
            <a:ext cx="502920" cy="338328"/>
          </a:xfrm>
          <a:prstGeom prst="rect">
            <a:avLst/>
          </a:prstGeom>
          <a:noFill/>
        </p:spPr>
        <p:txBody>
          <a:bodyPr wrap="square" anchor="ctr">
            <a:spAutoFit/>
          </a:bodyPr>
          <a:lstStyle/>
          <a:p>
            <a:pPr algn="ctr"/>
            <a:r>
              <a:rPr sz="1050" b="1">
                <a:solidFill>
                  <a:srgbClr val="295E4A"/>
                </a:solidFill>
                <a:latin typeface="Aptos"/>
              </a:rPr>
              <a:t>02</a:t>
            </a:r>
          </a:p>
        </p:txBody>
      </p:sp>
      <p:sp>
        <p:nvSpPr>
          <p:cNvPr id="16" name="TextBox 15"/>
          <p:cNvSpPr txBox="1"/>
          <p:nvPr/>
        </p:nvSpPr>
        <p:spPr>
          <a:xfrm>
            <a:off x="1481328" y="4315968"/>
            <a:ext cx="1920240" cy="320040"/>
          </a:xfrm>
          <a:prstGeom prst="rect">
            <a:avLst/>
          </a:prstGeom>
          <a:noFill/>
        </p:spPr>
        <p:txBody>
          <a:bodyPr wrap="square" anchor="t">
            <a:spAutoFit/>
          </a:bodyPr>
          <a:lstStyle/>
          <a:p>
            <a:pPr algn="l"/>
            <a:r>
              <a:rPr sz="1330" b="1">
                <a:solidFill>
                  <a:srgbClr val="13304A"/>
                </a:solidFill>
                <a:latin typeface="Aptos"/>
              </a:rPr>
              <a:t>Điều kiện thực tế</a:t>
            </a:r>
          </a:p>
        </p:txBody>
      </p:sp>
      <p:sp>
        <p:nvSpPr>
          <p:cNvPr id="17" name="TextBox 16"/>
          <p:cNvSpPr txBox="1"/>
          <p:nvPr/>
        </p:nvSpPr>
        <p:spPr>
          <a:xfrm>
            <a:off x="3364992" y="4315968"/>
            <a:ext cx="7360920" cy="512064"/>
          </a:xfrm>
          <a:prstGeom prst="rect">
            <a:avLst/>
          </a:prstGeom>
          <a:noFill/>
        </p:spPr>
        <p:txBody>
          <a:bodyPr wrap="square" anchor="t">
            <a:spAutoFit/>
          </a:bodyPr>
          <a:lstStyle/>
          <a:p>
            <a:pPr algn="l"/>
            <a:r>
              <a:rPr sz="1210" b="0">
                <a:solidFill>
                  <a:srgbClr val="1C242A"/>
                </a:solidFill>
                <a:latin typeface="Aptos"/>
              </a:rPr>
              <a:t>Tổ hợp lớp phải phù hợp đội ngũ giáo viên, CSVC và cách tổ chức của trường.</a:t>
            </a:r>
          </a:p>
        </p:txBody>
      </p:sp>
      <p:sp>
        <p:nvSpPr>
          <p:cNvPr id="18" name="Rounded Rectangle 17"/>
          <p:cNvSpPr/>
          <p:nvPr/>
        </p:nvSpPr>
        <p:spPr>
          <a:xfrm>
            <a:off x="804672" y="5102352"/>
            <a:ext cx="502920" cy="356616"/>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5120640"/>
            <a:ext cx="502920" cy="338328"/>
          </a:xfrm>
          <a:prstGeom prst="rect">
            <a:avLst/>
          </a:prstGeom>
          <a:noFill/>
        </p:spPr>
        <p:txBody>
          <a:bodyPr wrap="square" anchor="ctr">
            <a:spAutoFit/>
          </a:bodyPr>
          <a:lstStyle/>
          <a:p>
            <a:pPr algn="ctr"/>
            <a:r>
              <a:rPr sz="1050" b="1">
                <a:solidFill>
                  <a:srgbClr val="295E4A"/>
                </a:solidFill>
                <a:latin typeface="Aptos"/>
              </a:rPr>
              <a:t>03</a:t>
            </a:r>
          </a:p>
        </p:txBody>
      </p:sp>
      <p:sp>
        <p:nvSpPr>
          <p:cNvPr id="20" name="TextBox 19"/>
          <p:cNvSpPr txBox="1"/>
          <p:nvPr/>
        </p:nvSpPr>
        <p:spPr>
          <a:xfrm>
            <a:off x="1481328" y="5084064"/>
            <a:ext cx="1920240" cy="320040"/>
          </a:xfrm>
          <a:prstGeom prst="rect">
            <a:avLst/>
          </a:prstGeom>
          <a:noFill/>
        </p:spPr>
        <p:txBody>
          <a:bodyPr wrap="square" anchor="t">
            <a:spAutoFit/>
          </a:bodyPr>
          <a:lstStyle/>
          <a:p>
            <a:pPr algn="l"/>
            <a:r>
              <a:rPr sz="1330" b="1">
                <a:solidFill>
                  <a:srgbClr val="13304A"/>
                </a:solidFill>
                <a:latin typeface="Aptos"/>
              </a:rPr>
              <a:t>Thông tin cuối cùng</a:t>
            </a:r>
          </a:p>
        </p:txBody>
      </p:sp>
      <p:sp>
        <p:nvSpPr>
          <p:cNvPr id="21" name="TextBox 20"/>
          <p:cNvSpPr txBox="1"/>
          <p:nvPr/>
        </p:nvSpPr>
        <p:spPr>
          <a:xfrm>
            <a:off x="3364992" y="5084064"/>
            <a:ext cx="7360920" cy="512064"/>
          </a:xfrm>
          <a:prstGeom prst="rect">
            <a:avLst/>
          </a:prstGeom>
          <a:noFill/>
        </p:spPr>
        <p:txBody>
          <a:bodyPr wrap="square" anchor="t">
            <a:spAutoFit/>
          </a:bodyPr>
          <a:lstStyle/>
          <a:p>
            <a:pPr algn="l"/>
            <a:r>
              <a:rPr sz="1210" b="0">
                <a:solidFill>
                  <a:srgbClr val="1C242A"/>
                </a:solidFill>
                <a:latin typeface="Aptos"/>
              </a:rPr>
              <a:t>Chỉ chốt tổ hợp khi có phiếu/ thông báo chính thức của THPT Đức Trọng.</a:t>
            </a:r>
          </a:p>
        </p:txBody>
      </p:sp>
      <p:cxnSp>
        <p:nvCxnSpPr>
          <p:cNvPr id="22" name="Connector 21"/>
          <p:cNvCxnSpPr/>
          <p:nvPr/>
        </p:nvCxnSpPr>
        <p:spPr>
          <a:xfrm>
            <a:off x="594360" y="6473952"/>
            <a:ext cx="11000232" cy="0"/>
          </a:xfrm>
          <a:prstGeom prst="line">
            <a:avLst/>
          </a:prstGeom>
          <a:ln w="10160">
            <a:solidFill>
              <a:srgbClr val="D8DFDC"/>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21792" y="6519672"/>
            <a:ext cx="10149840" cy="164592"/>
          </a:xfrm>
          <a:prstGeom prst="rect">
            <a:avLst/>
          </a:prstGeom>
          <a:noFill/>
        </p:spPr>
        <p:txBody>
          <a:bodyPr wrap="square" anchor="t">
            <a:spAutoFit/>
          </a:bodyPr>
          <a:lstStyle/>
          <a:p>
            <a:pPr algn="l"/>
            <a:r>
              <a:rPr sz="780" b="0">
                <a:solidFill>
                  <a:srgbClr val="5C6972"/>
                </a:solidFill>
                <a:latin typeface="Aptos"/>
              </a:rPr>
              <a:t>Nguồn: Cổng thông tin THPT Đức Trọng – mục Tuyển sinh 10 (cập nhật đến 29/9/2026); CT GDPT 2018/TT 13/2022.</a:t>
            </a:r>
          </a:p>
        </p:txBody>
      </p:sp>
      <p:sp>
        <p:nvSpPr>
          <p:cNvPr id="24" name="TextBox 23"/>
          <p:cNvSpPr txBox="1"/>
          <p:nvPr/>
        </p:nvSpPr>
        <p:spPr>
          <a:xfrm>
            <a:off x="11064240" y="6492240"/>
            <a:ext cx="502920" cy="201168"/>
          </a:xfrm>
          <a:prstGeom prst="rect">
            <a:avLst/>
          </a:prstGeom>
          <a:noFill/>
        </p:spPr>
        <p:txBody>
          <a:bodyPr wrap="square" anchor="t">
            <a:spAutoFit/>
          </a:bodyPr>
          <a:lstStyle/>
          <a:p>
            <a:pPr algn="r"/>
            <a:r>
              <a:rPr sz="800" b="1">
                <a:solidFill>
                  <a:srgbClr val="5C6972"/>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40080"/>
            <a:ext cx="2926080" cy="502920"/>
          </a:xfrm>
          <a:prstGeom prst="rect">
            <a:avLst/>
          </a:prstGeom>
          <a:noFill/>
        </p:spPr>
        <p:txBody>
          <a:bodyPr wrap="square" anchor="t">
            <a:spAutoFit/>
          </a:bodyPr>
          <a:lstStyle/>
          <a:p>
            <a:pPr algn="l"/>
            <a:r>
              <a:rPr sz="2800" b="1">
                <a:solidFill>
                  <a:srgbClr val="13304A"/>
                </a:solidFill>
                <a:latin typeface="Aptos Display"/>
              </a:rPr>
              <a:t>KẾT LUẬN</a:t>
            </a:r>
          </a:p>
        </p:txBody>
      </p:sp>
      <p:cxnSp>
        <p:nvCxnSpPr>
          <p:cNvPr id="4" name="Connector 3"/>
          <p:cNvCxnSpPr/>
          <p:nvPr/>
        </p:nvCxnSpPr>
        <p:spPr>
          <a:xfrm>
            <a:off x="713232" y="1298448"/>
            <a:ext cx="10762488" cy="0"/>
          </a:xfrm>
          <a:prstGeom prst="line">
            <a:avLst/>
          </a:prstGeom>
          <a:ln w="22860">
            <a:solidFill>
              <a:srgbClr val="BE964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49808" y="1783080"/>
            <a:ext cx="10744200" cy="566928"/>
          </a:xfrm>
          <a:prstGeom prst="rect">
            <a:avLst/>
          </a:prstGeom>
          <a:noFill/>
        </p:spPr>
        <p:txBody>
          <a:bodyPr wrap="square" anchor="t">
            <a:spAutoFit/>
          </a:bodyPr>
          <a:lstStyle/>
          <a:p>
            <a:pPr algn="l"/>
            <a:r>
              <a:rPr sz="1900" b="1">
                <a:solidFill>
                  <a:srgbClr val="1C242A"/>
                </a:solidFill>
                <a:latin typeface="Aptos"/>
              </a:rPr>
              <a:t>THPT Đức Trọng là một trường THPT có lịch sử từ 1962–1963, đặt tại 360 Quốc lộ 20, xã Đức Trọng, tỉnh Lâm Đồng.</a:t>
            </a:r>
          </a:p>
        </p:txBody>
      </p:sp>
      <p:sp>
        <p:nvSpPr>
          <p:cNvPr id="6" name="Rounded Rectangle 5"/>
          <p:cNvSpPr/>
          <p:nvPr/>
        </p:nvSpPr>
        <p:spPr>
          <a:xfrm>
            <a:off x="749808" y="2852928"/>
            <a:ext cx="3401568" cy="1938528"/>
          </a:xfrm>
          <a:prstGeom prst="roundRect">
            <a:avLst/>
          </a:prstGeom>
          <a:solidFill>
            <a:srgbClr val="F7F9F8"/>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3127248"/>
            <a:ext cx="1572768" cy="347472"/>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145536"/>
            <a:ext cx="1572768" cy="329184"/>
          </a:xfrm>
          <a:prstGeom prst="rect">
            <a:avLst/>
          </a:prstGeom>
          <a:noFill/>
        </p:spPr>
        <p:txBody>
          <a:bodyPr wrap="square" anchor="ctr">
            <a:spAutoFit/>
          </a:bodyPr>
          <a:lstStyle/>
          <a:p>
            <a:pPr algn="ctr"/>
            <a:r>
              <a:rPr sz="960" b="1">
                <a:solidFill>
                  <a:srgbClr val="295E4A"/>
                </a:solidFill>
                <a:latin typeface="Aptos"/>
              </a:rPr>
              <a:t>Truyền thống</a:t>
            </a:r>
          </a:p>
        </p:txBody>
      </p:sp>
      <p:sp>
        <p:nvSpPr>
          <p:cNvPr id="9" name="TextBox 8"/>
          <p:cNvSpPr txBox="1"/>
          <p:nvPr/>
        </p:nvSpPr>
        <p:spPr>
          <a:xfrm>
            <a:off x="960120" y="3703320"/>
            <a:ext cx="2944368" cy="804672"/>
          </a:xfrm>
          <a:prstGeom prst="rect">
            <a:avLst/>
          </a:prstGeom>
          <a:noFill/>
        </p:spPr>
        <p:txBody>
          <a:bodyPr wrap="square" anchor="t">
            <a:spAutoFit/>
          </a:bodyPr>
          <a:lstStyle/>
          <a:p>
            <a:pPr algn="l"/>
            <a:r>
              <a:rPr sz="1250" b="0">
                <a:solidFill>
                  <a:srgbClr val="1C242A"/>
                </a:solidFill>
                <a:latin typeface="Aptos"/>
              </a:rPr>
              <a:t>Hơn 60 năm hình thành và phát triển; nhiều dấu mốc quan trọng.</a:t>
            </a:r>
          </a:p>
        </p:txBody>
      </p:sp>
      <p:sp>
        <p:nvSpPr>
          <p:cNvPr id="10" name="Rounded Rectangle 9"/>
          <p:cNvSpPr/>
          <p:nvPr/>
        </p:nvSpPr>
        <p:spPr>
          <a:xfrm>
            <a:off x="4480560" y="2852928"/>
            <a:ext cx="3401568" cy="1938528"/>
          </a:xfrm>
          <a:prstGeom prst="roundRect">
            <a:avLst/>
          </a:prstGeom>
          <a:solidFill>
            <a:srgbClr val="F7F9F8"/>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90872" y="3127248"/>
            <a:ext cx="1572768" cy="347472"/>
          </a:xfrm>
          <a:prstGeom prst="roundRect">
            <a:avLst/>
          </a:prstGeom>
          <a:solidFill>
            <a:srgbClr val="E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90872" y="3145536"/>
            <a:ext cx="1572768" cy="329184"/>
          </a:xfrm>
          <a:prstGeom prst="rect">
            <a:avLst/>
          </a:prstGeom>
          <a:noFill/>
        </p:spPr>
        <p:txBody>
          <a:bodyPr wrap="square" anchor="ctr">
            <a:spAutoFit/>
          </a:bodyPr>
          <a:lstStyle/>
          <a:p>
            <a:pPr algn="ctr"/>
            <a:r>
              <a:rPr sz="960" b="1">
                <a:solidFill>
                  <a:srgbClr val="13304A"/>
                </a:solidFill>
                <a:latin typeface="Aptos"/>
              </a:rPr>
              <a:t>Tuyển sinh 2026–2027</a:t>
            </a:r>
          </a:p>
        </p:txBody>
      </p:sp>
      <p:sp>
        <p:nvSpPr>
          <p:cNvPr id="13" name="TextBox 12"/>
          <p:cNvSpPr txBox="1"/>
          <p:nvPr/>
        </p:nvSpPr>
        <p:spPr>
          <a:xfrm>
            <a:off x="4690872" y="3703320"/>
            <a:ext cx="2944368" cy="804672"/>
          </a:xfrm>
          <a:prstGeom prst="rect">
            <a:avLst/>
          </a:prstGeom>
          <a:noFill/>
        </p:spPr>
        <p:txBody>
          <a:bodyPr wrap="square" anchor="t">
            <a:spAutoFit/>
          </a:bodyPr>
          <a:lstStyle/>
          <a:p>
            <a:pPr algn="l"/>
            <a:r>
              <a:rPr sz="1250" b="1">
                <a:solidFill>
                  <a:srgbClr val="1C242A"/>
                </a:solidFill>
                <a:latin typeface="Aptos"/>
              </a:rPr>
              <a:t>580 trúng tuyển đợt chính; 26 trúng tuyển bổ sung.</a:t>
            </a:r>
          </a:p>
        </p:txBody>
      </p:sp>
      <p:sp>
        <p:nvSpPr>
          <p:cNvPr id="14" name="Rounded Rectangle 13"/>
          <p:cNvSpPr/>
          <p:nvPr/>
        </p:nvSpPr>
        <p:spPr>
          <a:xfrm>
            <a:off x="8211312" y="2852928"/>
            <a:ext cx="3401568" cy="1938528"/>
          </a:xfrm>
          <a:prstGeom prst="roundRect">
            <a:avLst/>
          </a:prstGeom>
          <a:solidFill>
            <a:srgbClr val="F7F9F8"/>
          </a:solidFill>
          <a:ln w="12700">
            <a:solidFill>
              <a:srgbClr val="D8DF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421624" y="3127248"/>
            <a:ext cx="1572768" cy="347472"/>
          </a:xfrm>
          <a:prstGeom prst="roundRect">
            <a:avLst/>
          </a:prstGeom>
          <a:solidFill>
            <a:srgbClr val="E8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1624" y="3145536"/>
            <a:ext cx="1572768" cy="329184"/>
          </a:xfrm>
          <a:prstGeom prst="rect">
            <a:avLst/>
          </a:prstGeom>
          <a:noFill/>
        </p:spPr>
        <p:txBody>
          <a:bodyPr wrap="square" anchor="ctr">
            <a:spAutoFit/>
          </a:bodyPr>
          <a:lstStyle/>
          <a:p>
            <a:pPr algn="ctr"/>
            <a:r>
              <a:rPr sz="960" b="1">
                <a:solidFill>
                  <a:srgbClr val="295E4A"/>
                </a:solidFill>
                <a:latin typeface="Aptos"/>
              </a:rPr>
              <a:t>Lớp 10</a:t>
            </a:r>
          </a:p>
        </p:txBody>
      </p:sp>
      <p:sp>
        <p:nvSpPr>
          <p:cNvPr id="17" name="TextBox 16"/>
          <p:cNvSpPr txBox="1"/>
          <p:nvPr/>
        </p:nvSpPr>
        <p:spPr>
          <a:xfrm>
            <a:off x="8421624" y="3703320"/>
            <a:ext cx="2944368" cy="804672"/>
          </a:xfrm>
          <a:prstGeom prst="rect">
            <a:avLst/>
          </a:prstGeom>
          <a:noFill/>
        </p:spPr>
        <p:txBody>
          <a:bodyPr wrap="square" anchor="t">
            <a:spAutoFit/>
          </a:bodyPr>
          <a:lstStyle/>
          <a:p>
            <a:pPr algn="l"/>
            <a:r>
              <a:rPr sz="1250" b="0">
                <a:solidFill>
                  <a:srgbClr val="1C242A"/>
                </a:solidFill>
                <a:latin typeface="Aptos"/>
              </a:rPr>
              <a:t>Học chương trình GDPT 2018; chọn môn theo phương án của nhà trường.</a:t>
            </a:r>
          </a:p>
        </p:txBody>
      </p:sp>
      <p:sp>
        <p:nvSpPr>
          <p:cNvPr id="18" name="TextBox 17"/>
          <p:cNvSpPr txBox="1"/>
          <p:nvPr/>
        </p:nvSpPr>
        <p:spPr>
          <a:xfrm>
            <a:off x="749808" y="5742432"/>
            <a:ext cx="10744200" cy="292608"/>
          </a:xfrm>
          <a:prstGeom prst="rect">
            <a:avLst/>
          </a:prstGeom>
          <a:noFill/>
        </p:spPr>
        <p:txBody>
          <a:bodyPr wrap="square" anchor="t">
            <a:spAutoFit/>
          </a:bodyPr>
          <a:lstStyle/>
          <a:p>
            <a:pPr algn="l"/>
            <a:r>
              <a:rPr sz="950" b="0">
                <a:solidFill>
                  <a:srgbClr val="5C6972"/>
                </a:solidFill>
                <a:latin typeface="Aptos"/>
              </a:rPr>
              <a:t>Nguồn tham khảo: thptductrong.edu.vn • Quyết định 1074/QĐ-UBND ngày 30/3/2026 • CT GDPT 2018.</a:t>
            </a:r>
          </a:p>
        </p:txBody>
      </p:sp>
      <p:sp>
        <p:nvSpPr>
          <p:cNvPr id="19" name="TextBox 18"/>
          <p:cNvSpPr txBox="1"/>
          <p:nvPr/>
        </p:nvSpPr>
        <p:spPr>
          <a:xfrm>
            <a:off x="749808" y="6181344"/>
            <a:ext cx="10744200" cy="274320"/>
          </a:xfrm>
          <a:prstGeom prst="rect">
            <a:avLst/>
          </a:prstGeom>
          <a:noFill/>
        </p:spPr>
        <p:txBody>
          <a:bodyPr wrap="square" anchor="t">
            <a:spAutoFit/>
          </a:bodyPr>
          <a:lstStyle/>
          <a:p>
            <a:pPr algn="ctr"/>
            <a:r>
              <a:rPr sz="1100" b="1">
                <a:solidFill>
                  <a:srgbClr val="295E4A"/>
                </a:solidFill>
                <a:latin typeface="Aptos"/>
              </a:rPr>
              <a:t>— HẾT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